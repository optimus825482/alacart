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1259C8-1005-41D1-B9F2-B021360381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1CA9BD-CEC9-4D44-87B8-8DA9538E51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8A4791E-6475-4639-89C9-D22391C493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B8C956E-4141-40FC-936E-D412069F59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F54FE5B-7597-4A48-80E9-51847C117B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D3A5987-E7EF-4E6B-8396-8F169BF10D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080028E-BFF3-4F61-A1A8-8A54B3EFCF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19D0DAF-D36F-4484-8B7C-9FBF6F25BE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7A0513D-8E2F-426E-A813-5EEC32B0DE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385FCBE-A7D3-4D7C-A41E-3DEC275C9F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19BA921-A9BD-4016-B8C6-5006FD74F6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6B83EE-A1A6-420F-B383-55943CDA94A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18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367F64-77C1-4764-9E72-94B839768A9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6C4FCE-EE97-4D7C-9ADF-F5C14DFBEA9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2C62E1-69A7-4F6B-B861-022B2894AAF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167086-8BD0-47FE-8EEF-419040D2069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264432-8F10-4A9E-88E5-76BA5A259E2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548733-6A7A-461E-865E-BD13B00AF66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DC4762-1785-4541-BAE1-86446D698DB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5DC4FF-E565-4B13-AC61-E32E3842C8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Ana başlık metnini düzenlemek için tıklayın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Anahat metninin biçimini düzenlemek için tıklayın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İkinci Anahat Düzeyi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Üçüncü Anahat Düzeyi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Dördüncü Anahat Düzeyi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Beşinci Anahat Düzeyi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Altıncı Anahat Düzeyi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Yedinci Anahat Düzeyi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DFF5E6-C5C3-40EF-BEF4-56537855C30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Anahat metninin biçimini düzenlemek için tıklayın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İkinci Anahat Düzeyi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Üçüncü Anahat Düzeyi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Dördüncü Anahat Düzeyi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Beşinci Anahat Düzeyi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Altıncı Anahat Düzeyi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Yedinci Anahat Düzeyi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4AA748-4924-4E75-891E-9DD097393FD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0" y="0"/>
            <a:ext cx="12191400" cy="8208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7818120" y="960120"/>
            <a:ext cx="3840120" cy="4571640"/>
          </a:xfrm>
          <a:prstGeom prst="roundRect">
            <a:avLst>
              <a:gd name="adj" fmla="val 3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8092440" y="1234440"/>
            <a:ext cx="32914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eab308"/>
                </a:solidFill>
                <a:latin typeface="Segoe UI"/>
              </a:rPr>
              <a:t>KULLANILAN CIHAZLAR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8092440" y="1645920"/>
            <a:ext cx="45360" cy="712800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8302680" y="1645920"/>
            <a:ext cx="3108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Segoe UI"/>
              </a:rPr>
              <a:t>Masaustu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8302680" y="1901880"/>
            <a:ext cx="31086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950" spc="-1" strike="noStrike">
                <a:solidFill>
                  <a:srgbClr val="9cabc4"/>
                </a:solidFill>
                <a:latin typeface="Segoe UI"/>
              </a:rPr>
              <a:t>Windows / macOS / Linux - Chrome, Edge, Opera</a:t>
            </a:r>
            <a:endParaRPr b="0" lang="tr-T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9"/>
          <p:cNvSpPr/>
          <p:nvPr/>
        </p:nvSpPr>
        <p:spPr>
          <a:xfrm>
            <a:off x="8092440" y="2551320"/>
            <a:ext cx="45360" cy="712800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8302680" y="2551320"/>
            <a:ext cx="3108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Segoe UI"/>
              </a:rPr>
              <a:t>Tablet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8302680" y="2807280"/>
            <a:ext cx="31086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950" spc="-1" strike="noStrike">
                <a:solidFill>
                  <a:srgbClr val="9cabc4"/>
                </a:solidFill>
                <a:latin typeface="Segoe UI"/>
              </a:rPr>
              <a:t>Android ve iPad - dikey ve yatay ekran uyumu</a:t>
            </a:r>
            <a:endParaRPr b="0" lang="tr-T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12"/>
          <p:cNvSpPr/>
          <p:nvPr/>
        </p:nvSpPr>
        <p:spPr>
          <a:xfrm>
            <a:off x="8092440" y="3456360"/>
            <a:ext cx="45360" cy="712800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8302680" y="3456360"/>
            <a:ext cx="3108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Segoe UI"/>
              </a:rPr>
              <a:t>Mobil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8302680" y="3712320"/>
            <a:ext cx="31086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950" spc="-1" strike="noStrike">
                <a:solidFill>
                  <a:srgbClr val="9cabc4"/>
                </a:solidFill>
                <a:latin typeface="Segoe UI"/>
              </a:rPr>
              <a:t>Android ve iOS telefon - dokunmatik arayuz</a:t>
            </a:r>
            <a:endParaRPr b="0" lang="tr-T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15"/>
          <p:cNvSpPr/>
          <p:nvPr/>
        </p:nvSpPr>
        <p:spPr>
          <a:xfrm>
            <a:off x="8092440" y="4361760"/>
            <a:ext cx="45360" cy="712800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16"/>
          <p:cNvSpPr/>
          <p:nvPr/>
        </p:nvSpPr>
        <p:spPr>
          <a:xfrm>
            <a:off x="8302680" y="4361760"/>
            <a:ext cx="3108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Segoe UI"/>
              </a:rPr>
              <a:t>Ag yapisi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8302680" y="4617720"/>
            <a:ext cx="3108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950" spc="-1" strike="noStrike">
                <a:solidFill>
                  <a:srgbClr val="9cabc4"/>
                </a:solidFill>
                <a:latin typeface="Segoe UI"/>
              </a:rPr>
              <a:t>Internet (uzak sunucu) veya Yerel Ag (LAN) - kurulum gerektirmez</a:t>
            </a:r>
            <a:endParaRPr b="0" lang="tr-T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8"/>
          <p:cNvSpPr/>
          <p:nvPr/>
        </p:nvSpPr>
        <p:spPr>
          <a:xfrm>
            <a:off x="868680" y="1600200"/>
            <a:ext cx="6583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b308"/>
                </a:solidFill>
                <a:latin typeface="Segoe UI"/>
              </a:rPr>
              <a:t>MERIT HOTELS 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9"/>
          <p:cNvSpPr/>
          <p:nvPr/>
        </p:nvSpPr>
        <p:spPr>
          <a:xfrm>
            <a:off x="868680" y="2057400"/>
            <a:ext cx="6766200" cy="95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2000"/>
              </a:lnSpc>
            </a:pPr>
            <a:r>
              <a:rPr b="1" lang="en-US" sz="6800" spc="-1" strike="noStrike">
                <a:solidFill>
                  <a:srgbClr val="ffffff"/>
                </a:solidFill>
                <a:latin typeface="Segoe UI"/>
              </a:rPr>
              <a:t>ALACARTE</a:t>
            </a:r>
            <a:endParaRPr b="0" lang="tr-TR" sz="6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20"/>
          <p:cNvSpPr/>
          <p:nvPr/>
        </p:nvSpPr>
        <p:spPr>
          <a:xfrm>
            <a:off x="896040" y="3246120"/>
            <a:ext cx="2102760" cy="5436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1"/>
          <p:cNvSpPr/>
          <p:nvPr/>
        </p:nvSpPr>
        <p:spPr>
          <a:xfrm>
            <a:off x="868680" y="3520440"/>
            <a:ext cx="6674760" cy="76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1" lang="en-US" sz="2400" spc="-1" strike="noStrike">
                <a:solidFill>
                  <a:srgbClr val="eab308"/>
                </a:solidFill>
                <a:latin typeface="Segoe UI"/>
              </a:rPr>
              <a:t>A La Carte Restoranlarinin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8000"/>
              </a:lnSpc>
            </a:pPr>
            <a:r>
              <a:rPr b="1" lang="en-US" sz="2400" spc="-1" strike="noStrike">
                <a:solidFill>
                  <a:srgbClr val="eab308"/>
                </a:solidFill>
                <a:latin typeface="Segoe UI"/>
              </a:rPr>
              <a:t>Mutfak - Garson - Sef Koordinasyon Sistemi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22"/>
          <p:cNvSpPr/>
          <p:nvPr/>
        </p:nvSpPr>
        <p:spPr>
          <a:xfrm>
            <a:off x="868680" y="4617720"/>
            <a:ext cx="66747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Siparisin garson tarafindan olusturulmasi, mutfaga anlik iletilmesi, hazirlik durumunun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canli takibi ve iptal/revizyon bildirimleri ile kopuk iletisimin ortadan kaldirilmasi.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23"/>
          <p:cNvSpPr/>
          <p:nvPr/>
        </p:nvSpPr>
        <p:spPr>
          <a:xfrm>
            <a:off x="868680" y="5715000"/>
            <a:ext cx="66747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b7a93"/>
                </a:solidFill>
                <a:latin typeface="Segoe UI"/>
              </a:rPr>
              <a:t>5 A La Carte  |  57 Masa  |  63 Menu Ogesi  |  14 Kullanici  |  Web Tabanli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24"/>
          <p:cNvSpPr/>
          <p:nvPr/>
        </p:nvSpPr>
        <p:spPr>
          <a:xfrm>
            <a:off x="868680" y="6053400"/>
            <a:ext cx="6674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a93"/>
                </a:solidFill>
                <a:latin typeface="Segoe UI"/>
              </a:rPr>
              <a:t>Next.js 16  -  Prisma 6  -  PostgreSQL  -  React 19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PROBLEM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Mutfak ile Masa Arasindaki Iletisim Kopukluklari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A La Carte serviste geleneksel yontemlerle calisildiginda olusan tipik kayiplar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ounded Rectangle 6"/>
          <p:cNvSpPr/>
          <p:nvPr/>
        </p:nvSpPr>
        <p:spPr>
          <a:xfrm>
            <a:off x="567000" y="1783080"/>
            <a:ext cx="3593160" cy="137124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ectangle 7"/>
          <p:cNvSpPr/>
          <p:nvPr/>
        </p:nvSpPr>
        <p:spPr>
          <a:xfrm>
            <a:off x="567000" y="1783080"/>
            <a:ext cx="50040" cy="137124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822960" y="1965960"/>
            <a:ext cx="31359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87171"/>
                </a:solidFill>
                <a:latin typeface="Segoe UI"/>
              </a:rPr>
              <a:t>Kaybolan siparis fişi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822960" y="2295000"/>
            <a:ext cx="313596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6000"/>
              </a:lnSpc>
            </a:pPr>
            <a:r>
              <a:rPr b="0" lang="en-US" sz="1020" spc="-1" strike="noStrike">
                <a:solidFill>
                  <a:srgbClr val="9cabc4"/>
                </a:solidFill>
                <a:latin typeface="Segoe UI"/>
              </a:rPr>
              <a:t>Sesle alinan ya da kagit fişle iletilen siparis, garson cikisinda veya mutfak yogunlugunda kaybolur; siparis hicbir yerde gorunmez.</a:t>
            </a:r>
            <a:endParaRPr b="0" lang="tr-T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ounded Rectangle 10"/>
          <p:cNvSpPr/>
          <p:nvPr/>
        </p:nvSpPr>
        <p:spPr>
          <a:xfrm>
            <a:off x="4343400" y="1783080"/>
            <a:ext cx="3593160" cy="137124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Rectangle 11"/>
          <p:cNvSpPr/>
          <p:nvPr/>
        </p:nvSpPr>
        <p:spPr>
          <a:xfrm>
            <a:off x="4343400" y="1783080"/>
            <a:ext cx="50040" cy="13712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12"/>
          <p:cNvSpPr/>
          <p:nvPr/>
        </p:nvSpPr>
        <p:spPr>
          <a:xfrm>
            <a:off x="4599360" y="1965960"/>
            <a:ext cx="31359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ab308"/>
                </a:solidFill>
                <a:latin typeface="Segoe UI"/>
              </a:rPr>
              <a:t>Yanlis anlasilma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3"/>
          <p:cNvSpPr/>
          <p:nvPr/>
        </p:nvSpPr>
        <p:spPr>
          <a:xfrm>
            <a:off x="4599360" y="2295000"/>
            <a:ext cx="313596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6000"/>
              </a:lnSpc>
            </a:pPr>
            <a:r>
              <a:rPr b="0" lang="en-US" sz="1020" spc="-1" strike="noStrike">
                <a:solidFill>
                  <a:srgbClr val="9cabc4"/>
                </a:solidFill>
                <a:latin typeface="Segoe UI"/>
              </a:rPr>
              <a:t>Garson ile mutfak arasinda standart bir dil yok; "az pişmiş", "acili" veya "servis notu" ifadeleri farkli yorumlanir.</a:t>
            </a:r>
            <a:endParaRPr b="0" lang="tr-T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ounded Rectangle 14"/>
          <p:cNvSpPr/>
          <p:nvPr/>
        </p:nvSpPr>
        <p:spPr>
          <a:xfrm>
            <a:off x="8119800" y="1783080"/>
            <a:ext cx="3593160" cy="137124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Rectangle 15"/>
          <p:cNvSpPr/>
          <p:nvPr/>
        </p:nvSpPr>
        <p:spPr>
          <a:xfrm>
            <a:off x="8119800" y="1783080"/>
            <a:ext cx="50040" cy="137124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16"/>
          <p:cNvSpPr/>
          <p:nvPr/>
        </p:nvSpPr>
        <p:spPr>
          <a:xfrm>
            <a:off x="8375760" y="1965960"/>
            <a:ext cx="31359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87171"/>
                </a:solidFill>
                <a:latin typeface="Segoe UI"/>
              </a:rPr>
              <a:t>Iptal bilgisi ulasmaz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7"/>
          <p:cNvSpPr/>
          <p:nvPr/>
        </p:nvSpPr>
        <p:spPr>
          <a:xfrm>
            <a:off x="8375760" y="2295000"/>
            <a:ext cx="313596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6000"/>
              </a:lnSpc>
            </a:pPr>
            <a:r>
              <a:rPr b="0" lang="en-US" sz="1020" spc="-1" strike="noStrike">
                <a:solidFill>
                  <a:srgbClr val="9cabc4"/>
                </a:solidFill>
                <a:latin typeface="Segoe UI"/>
              </a:rPr>
              <a:t>Garson iptali yaptiginda mutfak bilgilendirilmez; garson iptal edilen urunu hazirlamaya devam eder, bosta emek ve gida kaybi olusur.</a:t>
            </a:r>
            <a:endParaRPr b="0" lang="tr-T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ounded Rectangle 18"/>
          <p:cNvSpPr/>
          <p:nvPr/>
        </p:nvSpPr>
        <p:spPr>
          <a:xfrm>
            <a:off x="567000" y="3300840"/>
            <a:ext cx="3593160" cy="137124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Rectangle 19"/>
          <p:cNvSpPr/>
          <p:nvPr/>
        </p:nvSpPr>
        <p:spPr>
          <a:xfrm>
            <a:off x="567000" y="3300840"/>
            <a:ext cx="50040" cy="13712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20"/>
          <p:cNvSpPr/>
          <p:nvPr/>
        </p:nvSpPr>
        <p:spPr>
          <a:xfrm>
            <a:off x="822960" y="3483720"/>
            <a:ext cx="31359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ab308"/>
                </a:solidFill>
                <a:latin typeface="Segoe UI"/>
              </a:rPr>
              <a:t>Geç ve karisik teslim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21"/>
          <p:cNvSpPr/>
          <p:nvPr/>
        </p:nvSpPr>
        <p:spPr>
          <a:xfrm>
            <a:off x="822960" y="3813120"/>
            <a:ext cx="313596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6000"/>
              </a:lnSpc>
            </a:pPr>
            <a:r>
              <a:rPr b="0" lang="en-US" sz="1020" spc="-1" strike="noStrike">
                <a:solidFill>
                  <a:srgbClr val="9cabc4"/>
                </a:solidFill>
                <a:latin typeface="Segoe UI"/>
              </a:rPr>
              <a:t>Siparisler gelis sirasina gore degil, odaya gore teslim edilir; dogru tabak olu odaya zamaninda gitmez.</a:t>
            </a:r>
            <a:endParaRPr b="0" lang="tr-T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22"/>
          <p:cNvSpPr/>
          <p:nvPr/>
        </p:nvSpPr>
        <p:spPr>
          <a:xfrm>
            <a:off x="4343400" y="3300840"/>
            <a:ext cx="3593160" cy="137124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ectangle 23"/>
          <p:cNvSpPr/>
          <p:nvPr/>
        </p:nvSpPr>
        <p:spPr>
          <a:xfrm>
            <a:off x="4343400" y="3300840"/>
            <a:ext cx="50040" cy="13712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24"/>
          <p:cNvSpPr/>
          <p:nvPr/>
        </p:nvSpPr>
        <p:spPr>
          <a:xfrm>
            <a:off x="4599360" y="3483720"/>
            <a:ext cx="31359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ab308"/>
                </a:solidFill>
                <a:latin typeface="Segoe UI"/>
              </a:rPr>
              <a:t>Mutfakta yigilan isler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25"/>
          <p:cNvSpPr/>
          <p:nvPr/>
        </p:nvSpPr>
        <p:spPr>
          <a:xfrm>
            <a:off x="4599360" y="3813120"/>
            <a:ext cx="313596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6000"/>
              </a:lnSpc>
            </a:pPr>
            <a:r>
              <a:rPr b="0" lang="en-US" sz="1020" spc="-1" strike="noStrike">
                <a:solidFill>
                  <a:srgbClr val="9cabc4"/>
                </a:solidFill>
                <a:latin typeface="Segoe UI"/>
              </a:rPr>
              <a:t>Siparis durumu tek ekranda izlenemedigi icin mutfak hangi kalemin hangi asamada oldugunu bilemez.</a:t>
            </a:r>
            <a:endParaRPr b="0" lang="tr-T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26"/>
          <p:cNvSpPr/>
          <p:nvPr/>
        </p:nvSpPr>
        <p:spPr>
          <a:xfrm>
            <a:off x="8119800" y="3300840"/>
            <a:ext cx="3593160" cy="137124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Rectangle 27"/>
          <p:cNvSpPr/>
          <p:nvPr/>
        </p:nvSpPr>
        <p:spPr>
          <a:xfrm>
            <a:off x="8119800" y="3300840"/>
            <a:ext cx="50040" cy="137124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28"/>
          <p:cNvSpPr/>
          <p:nvPr/>
        </p:nvSpPr>
        <p:spPr>
          <a:xfrm>
            <a:off x="8375760" y="3483720"/>
            <a:ext cx="31359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87171"/>
                </a:solidFill>
                <a:latin typeface="Segoe UI"/>
              </a:rPr>
              <a:t>Olcumlenemeyen isleyis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29"/>
          <p:cNvSpPr/>
          <p:nvPr/>
        </p:nvSpPr>
        <p:spPr>
          <a:xfrm>
            <a:off x="8375760" y="3813120"/>
            <a:ext cx="313596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6000"/>
              </a:lnSpc>
            </a:pPr>
            <a:r>
              <a:rPr b="0" lang="en-US" sz="1020" spc="-1" strike="noStrike">
                <a:solidFill>
                  <a:srgbClr val="9cabc4"/>
                </a:solidFill>
                <a:latin typeface="Segoe UI"/>
              </a:rPr>
              <a:t>Gun sonunda kac siparis alindi, hangi menu ogesi ne kadar tuketildi, iptal orani nedir - veriye dayali rapor yoktur.</a:t>
            </a:r>
            <a:endParaRPr b="0" lang="tr-T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ounded Rectangle 30"/>
          <p:cNvSpPr/>
          <p:nvPr/>
        </p:nvSpPr>
        <p:spPr>
          <a:xfrm>
            <a:off x="567000" y="5139000"/>
            <a:ext cx="11063880" cy="95976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31"/>
          <p:cNvSpPr/>
          <p:nvPr/>
        </p:nvSpPr>
        <p:spPr>
          <a:xfrm>
            <a:off x="868680" y="5321880"/>
            <a:ext cx="105152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87171"/>
                </a:solidFill>
                <a:latin typeface="Segoe UI"/>
              </a:rPr>
              <a:t>SONUC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32"/>
          <p:cNvSpPr/>
          <p:nvPr/>
        </p:nvSpPr>
        <p:spPr>
          <a:xfrm>
            <a:off x="868680" y="5596200"/>
            <a:ext cx="105152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250" spc="-1" strike="noStrike">
                <a:solidFill>
                  <a:srgbClr val="ffffff"/>
                </a:solidFill>
                <a:latin typeface="Segoe UI"/>
              </a:rPr>
              <a:t>Siparis kaybinda dogrudan gider, garson-mutfak arasinda surekli tekrar eden telefon ve bagirma, misafirde uzun bekleme ve tesis itibarinin zedelenmesi.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 33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34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35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02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COZUM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ALACARTE: Tek Bir Ekosistem, D Dort Modul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Siparis, mutfak, raporlama ve tanimlama tek bir uygulamada ve tek bir veri tabaninda birlestirildi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ounded Rectangle 6"/>
          <p:cNvSpPr/>
          <p:nvPr/>
        </p:nvSpPr>
        <p:spPr>
          <a:xfrm>
            <a:off x="567000" y="1783080"/>
            <a:ext cx="11063880" cy="102384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Rectangle 7"/>
          <p:cNvSpPr/>
          <p:nvPr/>
        </p:nvSpPr>
        <p:spPr>
          <a:xfrm>
            <a:off x="567000" y="1783080"/>
            <a:ext cx="50040" cy="10238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Rounded Rectangle 8"/>
          <p:cNvSpPr/>
          <p:nvPr/>
        </p:nvSpPr>
        <p:spPr>
          <a:xfrm>
            <a:off x="868680" y="2057400"/>
            <a:ext cx="1599840" cy="456840"/>
          </a:xfrm>
          <a:prstGeom prst="roundRect">
            <a:avLst>
              <a:gd name="adj" fmla="val 12000"/>
            </a:avLst>
          </a:prstGeom>
          <a:solidFill>
            <a:srgbClr val="60a5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9"/>
          <p:cNvSpPr/>
          <p:nvPr/>
        </p:nvSpPr>
        <p:spPr>
          <a:xfrm>
            <a:off x="868680" y="2167200"/>
            <a:ext cx="1599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a0f1c"/>
                </a:solidFill>
                <a:latin typeface="Segoe UI"/>
              </a:rPr>
              <a:t>ADMIN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2697480" y="1965960"/>
            <a:ext cx="2742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60a5fa"/>
                </a:solidFill>
                <a:latin typeface="Segoe UI"/>
              </a:rPr>
              <a:t>SISTEM YONETICISI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2697480" y="2258640"/>
            <a:ext cx="8686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b="0" lang="en-US" sz="1050" spc="-1" strike="noStrike">
                <a:solidFill>
                  <a:srgbClr val="9cabc4"/>
                </a:solidFill>
                <a:latin typeface="Segoe UI"/>
              </a:rPr>
              <a:t>Kullanicilar, A La Carte restoranlar, masalar, menu gruplari, menu ogeleri ve yemege ozel servis notlari burada tanimlanir. 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ounded Rectangle 12"/>
          <p:cNvSpPr/>
          <p:nvPr/>
        </p:nvSpPr>
        <p:spPr>
          <a:xfrm>
            <a:off x="567000" y="2898720"/>
            <a:ext cx="11063880" cy="102384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Rectangle 13"/>
          <p:cNvSpPr/>
          <p:nvPr/>
        </p:nvSpPr>
        <p:spPr>
          <a:xfrm>
            <a:off x="567000" y="2898720"/>
            <a:ext cx="50040" cy="10238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Rounded Rectangle 14"/>
          <p:cNvSpPr/>
          <p:nvPr/>
        </p:nvSpPr>
        <p:spPr>
          <a:xfrm>
            <a:off x="868680" y="3173040"/>
            <a:ext cx="1599840" cy="456840"/>
          </a:xfrm>
          <a:prstGeom prst="roundRect">
            <a:avLst>
              <a:gd name="adj" fmla="val 12000"/>
            </a:avLst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15"/>
          <p:cNvSpPr/>
          <p:nvPr/>
        </p:nvSpPr>
        <p:spPr>
          <a:xfrm>
            <a:off x="868680" y="3282840"/>
            <a:ext cx="1599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a0f1c"/>
                </a:solidFill>
                <a:latin typeface="Segoe UI"/>
              </a:rPr>
              <a:t>CHEF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16"/>
          <p:cNvSpPr/>
          <p:nvPr/>
        </p:nvSpPr>
        <p:spPr>
          <a:xfrm>
            <a:off x="2697480" y="3081600"/>
            <a:ext cx="2742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eab308"/>
                </a:solidFill>
                <a:latin typeface="Segoe UI"/>
              </a:rPr>
              <a:t>SEF PANELI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17"/>
          <p:cNvSpPr/>
          <p:nvPr/>
        </p:nvSpPr>
        <p:spPr>
          <a:xfrm>
            <a:off x="2697480" y="3374280"/>
            <a:ext cx="8686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b="0" lang="en-US" sz="1050" spc="-1" strike="noStrike">
                <a:solidFill>
                  <a:srgbClr val="9cabc4"/>
                </a:solidFill>
                <a:latin typeface="Segoe UI"/>
              </a:rPr>
              <a:t>Sistemin tum isleyisini anlik izler; gunluk veya tarih araliginda secim yaparak rapor alir; raporu PDF veya Excel olarak disari aktarir. Garson siparisi giris yapabilir.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ounded Rectangle 18"/>
          <p:cNvSpPr/>
          <p:nvPr/>
        </p:nvSpPr>
        <p:spPr>
          <a:xfrm>
            <a:off x="567000" y="3836160"/>
            <a:ext cx="11063880" cy="102384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Rectangle 19"/>
          <p:cNvSpPr/>
          <p:nvPr/>
        </p:nvSpPr>
        <p:spPr>
          <a:xfrm>
            <a:off x="567000" y="4014360"/>
            <a:ext cx="50040" cy="102384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ounded Rectangle 20"/>
          <p:cNvSpPr/>
          <p:nvPr/>
        </p:nvSpPr>
        <p:spPr>
          <a:xfrm>
            <a:off x="868680" y="4288680"/>
            <a:ext cx="1599840" cy="456840"/>
          </a:xfrm>
          <a:prstGeom prst="roundRect">
            <a:avLst>
              <a:gd name="adj" fmla="val 12000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21"/>
          <p:cNvSpPr/>
          <p:nvPr/>
        </p:nvSpPr>
        <p:spPr>
          <a:xfrm>
            <a:off x="868680" y="4398120"/>
            <a:ext cx="1599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a0f1c"/>
                </a:solidFill>
                <a:latin typeface="Segoe UI"/>
              </a:rPr>
              <a:t>WAITER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22"/>
          <p:cNvSpPr/>
          <p:nvPr/>
        </p:nvSpPr>
        <p:spPr>
          <a:xfrm>
            <a:off x="2697480" y="4197240"/>
            <a:ext cx="2742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4d399"/>
                </a:solidFill>
                <a:latin typeface="Segoe UI"/>
              </a:rPr>
              <a:t>GARSON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23"/>
          <p:cNvSpPr/>
          <p:nvPr/>
        </p:nvSpPr>
        <p:spPr>
          <a:xfrm>
            <a:off x="2697480" y="4489560"/>
            <a:ext cx="8686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b="0" lang="en-US" sz="1050" spc="-1" strike="noStrike">
                <a:solidFill>
                  <a:srgbClr val="9cabc4"/>
                </a:solidFill>
                <a:latin typeface="Segoe UI"/>
              </a:rPr>
              <a:t>Giriste A La Carte secimi yapar, masa secer, menuden urun ekler, yemege ozel servis notlarindan secim yapar, siparisi onaylar. Siparislerim sekmesinden gunluk siparislerini ve mutfak durumlarini takip eder; siparis iptal eder ve iptal fisini yazdirir.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ounded Rectangle 24"/>
          <p:cNvSpPr/>
          <p:nvPr/>
        </p:nvSpPr>
        <p:spPr>
          <a:xfrm>
            <a:off x="655920" y="4856760"/>
            <a:ext cx="11063880" cy="102384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ectangle 25"/>
          <p:cNvSpPr/>
          <p:nvPr/>
        </p:nvSpPr>
        <p:spPr>
          <a:xfrm>
            <a:off x="567000" y="5129640"/>
            <a:ext cx="50040" cy="102384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Rounded Rectangle 26"/>
          <p:cNvSpPr/>
          <p:nvPr/>
        </p:nvSpPr>
        <p:spPr>
          <a:xfrm>
            <a:off x="868680" y="5403960"/>
            <a:ext cx="1599840" cy="456840"/>
          </a:xfrm>
          <a:prstGeom prst="roundRect">
            <a:avLst>
              <a:gd name="adj" fmla="val 12000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27"/>
          <p:cNvSpPr/>
          <p:nvPr/>
        </p:nvSpPr>
        <p:spPr>
          <a:xfrm>
            <a:off x="868680" y="5513760"/>
            <a:ext cx="1599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a0f1c"/>
                </a:solidFill>
                <a:latin typeface="Segoe UI"/>
              </a:rPr>
              <a:t>KITCHEN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28"/>
          <p:cNvSpPr/>
          <p:nvPr/>
        </p:nvSpPr>
        <p:spPr>
          <a:xfrm>
            <a:off x="2697480" y="5312520"/>
            <a:ext cx="2742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87171"/>
                </a:solidFill>
                <a:latin typeface="Segoe UI"/>
              </a:rPr>
              <a:t>MUTFAK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29"/>
          <p:cNvSpPr/>
          <p:nvPr/>
        </p:nvSpPr>
        <p:spPr>
          <a:xfrm>
            <a:off x="2697480" y="5605200"/>
            <a:ext cx="8686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b="0" lang="en-US" sz="1050" spc="-1" strike="noStrike">
                <a:solidFill>
                  <a:srgbClr val="9cabc4"/>
                </a:solidFill>
                <a:latin typeface="Segoe UI"/>
              </a:rPr>
              <a:t>Her A La Carte icin ayri mutfak kullanicisi vardir; kullanici giris yaptiginda alakart secimi yapmaz, otomatik olarak kendi restoranina baglanir. Garson siparislerini anlik gorur, Hazirlaniyor / Tamamlandi isaretler, iptal edilenleri ayri sekmede hazirlamaz.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ectangle 32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33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34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03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YETKI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Moduller ve Rol Matrisi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Her rol yalnizca kendi yetkisi kapsaminda hareket eder; mutfak durumu guncelleme yetkisi kasitli olarak sinirlandirilmistir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ounded Rectangle 6"/>
          <p:cNvSpPr/>
          <p:nvPr/>
        </p:nvSpPr>
        <p:spPr>
          <a:xfrm>
            <a:off x="567000" y="1783080"/>
            <a:ext cx="3977280" cy="475200"/>
          </a:xfrm>
          <a:prstGeom prst="roundRect">
            <a:avLst>
              <a:gd name="adj" fmla="val 5000"/>
            </a:avLst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694800" y="1901880"/>
            <a:ext cx="3757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0a0f1c"/>
                </a:solidFill>
                <a:latin typeface="Segoe UI"/>
              </a:rPr>
              <a:t>Kullanic / Rol tanimi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ounded Rectangle 8"/>
          <p:cNvSpPr/>
          <p:nvPr/>
        </p:nvSpPr>
        <p:spPr>
          <a:xfrm>
            <a:off x="4599360" y="1783080"/>
            <a:ext cx="1782720" cy="47520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9"/>
          <p:cNvSpPr/>
          <p:nvPr/>
        </p:nvSpPr>
        <p:spPr>
          <a:xfrm>
            <a:off x="4727520" y="1901880"/>
            <a:ext cx="15631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Segoe UI"/>
              </a:rPr>
              <a:t>ADMIN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ounded Rectangle 10"/>
          <p:cNvSpPr/>
          <p:nvPr/>
        </p:nvSpPr>
        <p:spPr>
          <a:xfrm>
            <a:off x="6437520" y="1783080"/>
            <a:ext cx="1782720" cy="47520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11"/>
          <p:cNvSpPr/>
          <p:nvPr/>
        </p:nvSpPr>
        <p:spPr>
          <a:xfrm>
            <a:off x="6565320" y="1901880"/>
            <a:ext cx="15631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Segoe UI"/>
              </a:rPr>
              <a:t>CHEF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ounded Rectangle 12"/>
          <p:cNvSpPr/>
          <p:nvPr/>
        </p:nvSpPr>
        <p:spPr>
          <a:xfrm>
            <a:off x="8275320" y="1783080"/>
            <a:ext cx="1782720" cy="47520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13"/>
          <p:cNvSpPr/>
          <p:nvPr/>
        </p:nvSpPr>
        <p:spPr>
          <a:xfrm>
            <a:off x="8403480" y="1901880"/>
            <a:ext cx="15631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Segoe UI"/>
              </a:rPr>
              <a:t>WAITER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ounded Rectangle 14"/>
          <p:cNvSpPr/>
          <p:nvPr/>
        </p:nvSpPr>
        <p:spPr>
          <a:xfrm>
            <a:off x="10113120" y="1783080"/>
            <a:ext cx="1782720" cy="47520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15"/>
          <p:cNvSpPr/>
          <p:nvPr/>
        </p:nvSpPr>
        <p:spPr>
          <a:xfrm>
            <a:off x="10241280" y="1901880"/>
            <a:ext cx="15631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Segoe UI"/>
              </a:rPr>
              <a:t>KITCHEN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ounded Rectangle 16"/>
          <p:cNvSpPr/>
          <p:nvPr/>
        </p:nvSpPr>
        <p:spPr>
          <a:xfrm>
            <a:off x="567000" y="2331720"/>
            <a:ext cx="397728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17"/>
          <p:cNvSpPr/>
          <p:nvPr/>
        </p:nvSpPr>
        <p:spPr>
          <a:xfrm>
            <a:off x="713160" y="2468880"/>
            <a:ext cx="37029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ffffff"/>
                </a:solidFill>
                <a:latin typeface="Segoe UI"/>
              </a:rPr>
              <a:t>Menu, masa, restoran tanimi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ounded Rectangle 18"/>
          <p:cNvSpPr/>
          <p:nvPr/>
        </p:nvSpPr>
        <p:spPr>
          <a:xfrm>
            <a:off x="4599360" y="233172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19"/>
          <p:cNvSpPr/>
          <p:nvPr/>
        </p:nvSpPr>
        <p:spPr>
          <a:xfrm>
            <a:off x="4690800" y="246888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60a5fa"/>
                </a:solidFill>
                <a:latin typeface="Segoe UI"/>
              </a:rPr>
              <a:t>Yonetir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ounded Rectangle 20"/>
          <p:cNvSpPr/>
          <p:nvPr/>
        </p:nvSpPr>
        <p:spPr>
          <a:xfrm>
            <a:off x="6437520" y="233172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21"/>
          <p:cNvSpPr/>
          <p:nvPr/>
        </p:nvSpPr>
        <p:spPr>
          <a:xfrm>
            <a:off x="6528960" y="246888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9cabc4"/>
                </a:solidFill>
                <a:latin typeface="Segoe UI"/>
              </a:rPr>
              <a:t>-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ounded Rectangle 22"/>
          <p:cNvSpPr/>
          <p:nvPr/>
        </p:nvSpPr>
        <p:spPr>
          <a:xfrm>
            <a:off x="8275320" y="233172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23"/>
          <p:cNvSpPr/>
          <p:nvPr/>
        </p:nvSpPr>
        <p:spPr>
          <a:xfrm>
            <a:off x="8366760" y="246888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9cabc4"/>
                </a:solidFill>
                <a:latin typeface="Segoe UI"/>
              </a:rPr>
              <a:t>-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ounded Rectangle 24"/>
          <p:cNvSpPr/>
          <p:nvPr/>
        </p:nvSpPr>
        <p:spPr>
          <a:xfrm>
            <a:off x="10113120" y="233172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25"/>
          <p:cNvSpPr/>
          <p:nvPr/>
        </p:nvSpPr>
        <p:spPr>
          <a:xfrm>
            <a:off x="10204560" y="246888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9cabc4"/>
                </a:solidFill>
                <a:latin typeface="Segoe UI"/>
              </a:rPr>
              <a:t>-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26"/>
          <p:cNvSpPr/>
          <p:nvPr/>
        </p:nvSpPr>
        <p:spPr>
          <a:xfrm>
            <a:off x="567000" y="2889360"/>
            <a:ext cx="397728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27"/>
          <p:cNvSpPr/>
          <p:nvPr/>
        </p:nvSpPr>
        <p:spPr>
          <a:xfrm>
            <a:off x="713160" y="3026520"/>
            <a:ext cx="37029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ffffff"/>
                </a:solidFill>
                <a:latin typeface="Segoe UI"/>
              </a:rPr>
              <a:t>Garson siparisi girisi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ounded Rectangle 28"/>
          <p:cNvSpPr/>
          <p:nvPr/>
        </p:nvSpPr>
        <p:spPr>
          <a:xfrm>
            <a:off x="4599360" y="288936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29"/>
          <p:cNvSpPr/>
          <p:nvPr/>
        </p:nvSpPr>
        <p:spPr>
          <a:xfrm>
            <a:off x="4690800" y="302652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34d399"/>
                </a:solidFill>
                <a:latin typeface="Segoe UI"/>
              </a:rPr>
              <a:t>Yapabilir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ounded Rectangle 30"/>
          <p:cNvSpPr/>
          <p:nvPr/>
        </p:nvSpPr>
        <p:spPr>
          <a:xfrm>
            <a:off x="6437520" y="288936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31"/>
          <p:cNvSpPr/>
          <p:nvPr/>
        </p:nvSpPr>
        <p:spPr>
          <a:xfrm>
            <a:off x="6528960" y="302652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34d399"/>
                </a:solidFill>
                <a:latin typeface="Segoe UI"/>
              </a:rPr>
              <a:t>Yapabilir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ounded Rectangle 32"/>
          <p:cNvSpPr/>
          <p:nvPr/>
        </p:nvSpPr>
        <p:spPr>
          <a:xfrm>
            <a:off x="8275320" y="288936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33"/>
          <p:cNvSpPr/>
          <p:nvPr/>
        </p:nvSpPr>
        <p:spPr>
          <a:xfrm>
            <a:off x="8366760" y="302652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34d399"/>
                </a:solidFill>
                <a:latin typeface="Segoe UI"/>
              </a:rPr>
              <a:t>Yapabilir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ounded Rectangle 34"/>
          <p:cNvSpPr/>
          <p:nvPr/>
        </p:nvSpPr>
        <p:spPr>
          <a:xfrm>
            <a:off x="10113120" y="288936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35"/>
          <p:cNvSpPr/>
          <p:nvPr/>
        </p:nvSpPr>
        <p:spPr>
          <a:xfrm>
            <a:off x="10204560" y="302652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9cabc4"/>
                </a:solidFill>
                <a:latin typeface="Segoe UI"/>
              </a:rPr>
              <a:t>-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ounded Rectangle 36"/>
          <p:cNvSpPr/>
          <p:nvPr/>
        </p:nvSpPr>
        <p:spPr>
          <a:xfrm>
            <a:off x="567000" y="3447360"/>
            <a:ext cx="397728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37"/>
          <p:cNvSpPr/>
          <p:nvPr/>
        </p:nvSpPr>
        <p:spPr>
          <a:xfrm>
            <a:off x="713160" y="3584520"/>
            <a:ext cx="37029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ffffff"/>
                </a:solidFill>
                <a:latin typeface="Segoe UI"/>
              </a:rPr>
              <a:t>Siparis detayini goruntuleme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38"/>
          <p:cNvSpPr/>
          <p:nvPr/>
        </p:nvSpPr>
        <p:spPr>
          <a:xfrm>
            <a:off x="4599360" y="344736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39"/>
          <p:cNvSpPr/>
          <p:nvPr/>
        </p:nvSpPr>
        <p:spPr>
          <a:xfrm>
            <a:off x="4690800" y="358452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34d399"/>
                </a:solidFill>
                <a:latin typeface="Segoe UI"/>
              </a:rPr>
              <a:t>Gorur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ounded Rectangle 40"/>
          <p:cNvSpPr/>
          <p:nvPr/>
        </p:nvSpPr>
        <p:spPr>
          <a:xfrm>
            <a:off x="6437520" y="344736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41"/>
          <p:cNvSpPr/>
          <p:nvPr/>
        </p:nvSpPr>
        <p:spPr>
          <a:xfrm>
            <a:off x="6528960" y="358452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34d399"/>
                </a:solidFill>
                <a:latin typeface="Segoe UI"/>
              </a:rPr>
              <a:t>Gorur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ounded Rectangle 42"/>
          <p:cNvSpPr/>
          <p:nvPr/>
        </p:nvSpPr>
        <p:spPr>
          <a:xfrm>
            <a:off x="8275320" y="344736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43"/>
          <p:cNvSpPr/>
          <p:nvPr/>
        </p:nvSpPr>
        <p:spPr>
          <a:xfrm>
            <a:off x="8366760" y="358452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34d399"/>
                </a:solidFill>
                <a:latin typeface="Segoe UI"/>
              </a:rPr>
              <a:t>Kendi siparisleri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ounded Rectangle 44"/>
          <p:cNvSpPr/>
          <p:nvPr/>
        </p:nvSpPr>
        <p:spPr>
          <a:xfrm>
            <a:off x="10113120" y="344736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45"/>
          <p:cNvSpPr/>
          <p:nvPr/>
        </p:nvSpPr>
        <p:spPr>
          <a:xfrm>
            <a:off x="10204560" y="358452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34d399"/>
                </a:solidFill>
                <a:latin typeface="Segoe UI"/>
              </a:rPr>
              <a:t>Kendi mutfagi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ounded Rectangle 46"/>
          <p:cNvSpPr/>
          <p:nvPr/>
        </p:nvSpPr>
        <p:spPr>
          <a:xfrm>
            <a:off x="567000" y="4005000"/>
            <a:ext cx="397728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47"/>
          <p:cNvSpPr/>
          <p:nvPr/>
        </p:nvSpPr>
        <p:spPr>
          <a:xfrm>
            <a:off x="713160" y="4142160"/>
            <a:ext cx="37029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ffffff"/>
                </a:solidFill>
                <a:latin typeface="Segoe UI"/>
              </a:rPr>
              <a:t>Mutfak durumu (Hazirlaniyor / Tamamlandi)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ounded Rectangle 48"/>
          <p:cNvSpPr/>
          <p:nvPr/>
        </p:nvSpPr>
        <p:spPr>
          <a:xfrm>
            <a:off x="4599360" y="400500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TextBox 49"/>
          <p:cNvSpPr/>
          <p:nvPr/>
        </p:nvSpPr>
        <p:spPr>
          <a:xfrm>
            <a:off x="4690800" y="414216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eab308"/>
                </a:solidFill>
                <a:latin typeface="Segoe UI"/>
              </a:rPr>
              <a:t>Yapabilir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ounded Rectangle 50"/>
          <p:cNvSpPr/>
          <p:nvPr/>
        </p:nvSpPr>
        <p:spPr>
          <a:xfrm>
            <a:off x="6437520" y="400500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51"/>
          <p:cNvSpPr/>
          <p:nvPr/>
        </p:nvSpPr>
        <p:spPr>
          <a:xfrm>
            <a:off x="6528960" y="414216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9cabc4"/>
                </a:solidFill>
                <a:latin typeface="Segoe UI"/>
              </a:rPr>
              <a:t>Yapamaz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ounded Rectangle 52"/>
          <p:cNvSpPr/>
          <p:nvPr/>
        </p:nvSpPr>
        <p:spPr>
          <a:xfrm>
            <a:off x="8275320" y="400500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53"/>
          <p:cNvSpPr/>
          <p:nvPr/>
        </p:nvSpPr>
        <p:spPr>
          <a:xfrm>
            <a:off x="8366760" y="414216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eab308"/>
                </a:solidFill>
                <a:latin typeface="Segoe UI"/>
              </a:rPr>
              <a:t>Gorur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ounded Rectangle 54"/>
          <p:cNvSpPr/>
          <p:nvPr/>
        </p:nvSpPr>
        <p:spPr>
          <a:xfrm>
            <a:off x="10113120" y="400500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55"/>
          <p:cNvSpPr/>
          <p:nvPr/>
        </p:nvSpPr>
        <p:spPr>
          <a:xfrm>
            <a:off x="10204560" y="414216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eab308"/>
                </a:solidFill>
                <a:latin typeface="Segoe UI"/>
              </a:rPr>
              <a:t>Yapabilir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ounded Rectangle 56"/>
          <p:cNvSpPr/>
          <p:nvPr/>
        </p:nvSpPr>
        <p:spPr>
          <a:xfrm>
            <a:off x="567000" y="4563000"/>
            <a:ext cx="397728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57"/>
          <p:cNvSpPr/>
          <p:nvPr/>
        </p:nvSpPr>
        <p:spPr>
          <a:xfrm>
            <a:off x="713160" y="4700160"/>
            <a:ext cx="37029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ffffff"/>
                </a:solidFill>
                <a:latin typeface="Segoe UI"/>
              </a:rPr>
              <a:t>Siparis iptali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ounded Rectangle 58"/>
          <p:cNvSpPr/>
          <p:nvPr/>
        </p:nvSpPr>
        <p:spPr>
          <a:xfrm>
            <a:off x="4599360" y="456300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59"/>
          <p:cNvSpPr/>
          <p:nvPr/>
        </p:nvSpPr>
        <p:spPr>
          <a:xfrm>
            <a:off x="4690800" y="470016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eab308"/>
                </a:solidFill>
                <a:latin typeface="Segoe UI"/>
              </a:rPr>
              <a:t>Yapabilir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ounded Rectangle 60"/>
          <p:cNvSpPr/>
          <p:nvPr/>
        </p:nvSpPr>
        <p:spPr>
          <a:xfrm>
            <a:off x="6437520" y="456300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61"/>
          <p:cNvSpPr/>
          <p:nvPr/>
        </p:nvSpPr>
        <p:spPr>
          <a:xfrm>
            <a:off x="6528960" y="470016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eab308"/>
                </a:solidFill>
                <a:latin typeface="Segoe UI"/>
              </a:rPr>
              <a:t>Yapabilir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Rounded Rectangle 62"/>
          <p:cNvSpPr/>
          <p:nvPr/>
        </p:nvSpPr>
        <p:spPr>
          <a:xfrm>
            <a:off x="8275320" y="456300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63"/>
          <p:cNvSpPr/>
          <p:nvPr/>
        </p:nvSpPr>
        <p:spPr>
          <a:xfrm>
            <a:off x="8366760" y="470016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eab308"/>
                </a:solidFill>
                <a:latin typeface="Segoe UI"/>
              </a:rPr>
              <a:t>Yapabilir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ounded Rectangle 64"/>
          <p:cNvSpPr/>
          <p:nvPr/>
        </p:nvSpPr>
        <p:spPr>
          <a:xfrm>
            <a:off x="10113120" y="456300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65"/>
          <p:cNvSpPr/>
          <p:nvPr/>
        </p:nvSpPr>
        <p:spPr>
          <a:xfrm>
            <a:off x="10204560" y="470016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9cabc4"/>
                </a:solidFill>
                <a:latin typeface="Segoe UI"/>
              </a:rPr>
              <a:t>-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ounded Rectangle 66"/>
          <p:cNvSpPr/>
          <p:nvPr/>
        </p:nvSpPr>
        <p:spPr>
          <a:xfrm>
            <a:off x="567000" y="5120640"/>
            <a:ext cx="397728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TextBox 67"/>
          <p:cNvSpPr/>
          <p:nvPr/>
        </p:nvSpPr>
        <p:spPr>
          <a:xfrm>
            <a:off x="713160" y="5257800"/>
            <a:ext cx="37029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ffffff"/>
                </a:solidFill>
                <a:latin typeface="Segoe UI"/>
              </a:rPr>
              <a:t>Gunluk / tarih araligi raporu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ounded Rectangle 68"/>
          <p:cNvSpPr/>
          <p:nvPr/>
        </p:nvSpPr>
        <p:spPr>
          <a:xfrm>
            <a:off x="4599360" y="512064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69"/>
          <p:cNvSpPr/>
          <p:nvPr/>
        </p:nvSpPr>
        <p:spPr>
          <a:xfrm>
            <a:off x="4690800" y="525780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60a5fa"/>
                </a:solidFill>
                <a:latin typeface="Segoe UI"/>
              </a:rPr>
              <a:t>Gorur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ounded Rectangle 70"/>
          <p:cNvSpPr/>
          <p:nvPr/>
        </p:nvSpPr>
        <p:spPr>
          <a:xfrm>
            <a:off x="6437520" y="512064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71"/>
          <p:cNvSpPr/>
          <p:nvPr/>
        </p:nvSpPr>
        <p:spPr>
          <a:xfrm>
            <a:off x="6528960" y="525780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60a5fa"/>
                </a:solidFill>
                <a:latin typeface="Segoe UI"/>
              </a:rPr>
              <a:t>Yapabilir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ounded Rectangle 72"/>
          <p:cNvSpPr/>
          <p:nvPr/>
        </p:nvSpPr>
        <p:spPr>
          <a:xfrm>
            <a:off x="8275320" y="512064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73"/>
          <p:cNvSpPr/>
          <p:nvPr/>
        </p:nvSpPr>
        <p:spPr>
          <a:xfrm>
            <a:off x="8366760" y="525780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9cabc4"/>
                </a:solidFill>
                <a:latin typeface="Segoe UI"/>
              </a:rPr>
              <a:t>-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ounded Rectangle 74"/>
          <p:cNvSpPr/>
          <p:nvPr/>
        </p:nvSpPr>
        <p:spPr>
          <a:xfrm>
            <a:off x="10113120" y="512064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75"/>
          <p:cNvSpPr/>
          <p:nvPr/>
        </p:nvSpPr>
        <p:spPr>
          <a:xfrm>
            <a:off x="10204560" y="525780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9cabc4"/>
                </a:solidFill>
                <a:latin typeface="Segoe UI"/>
              </a:rPr>
              <a:t>-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ounded Rectangle 76"/>
          <p:cNvSpPr/>
          <p:nvPr/>
        </p:nvSpPr>
        <p:spPr>
          <a:xfrm>
            <a:off x="567000" y="5678280"/>
            <a:ext cx="397728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77"/>
          <p:cNvSpPr/>
          <p:nvPr/>
        </p:nvSpPr>
        <p:spPr>
          <a:xfrm>
            <a:off x="713160" y="5815440"/>
            <a:ext cx="37029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ffffff"/>
                </a:solidFill>
                <a:latin typeface="Segoe UI"/>
              </a:rPr>
              <a:t>PDF ve Excel cikti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ounded Rectangle 78"/>
          <p:cNvSpPr/>
          <p:nvPr/>
        </p:nvSpPr>
        <p:spPr>
          <a:xfrm>
            <a:off x="4599360" y="567828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79"/>
          <p:cNvSpPr/>
          <p:nvPr/>
        </p:nvSpPr>
        <p:spPr>
          <a:xfrm>
            <a:off x="4690800" y="581544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60a5fa"/>
                </a:solidFill>
                <a:latin typeface="Segoe UI"/>
              </a:rPr>
              <a:t>Alabilir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Rounded Rectangle 80"/>
          <p:cNvSpPr/>
          <p:nvPr/>
        </p:nvSpPr>
        <p:spPr>
          <a:xfrm>
            <a:off x="6437520" y="567828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TextBox 81"/>
          <p:cNvSpPr/>
          <p:nvPr/>
        </p:nvSpPr>
        <p:spPr>
          <a:xfrm>
            <a:off x="6528960" y="581544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80" spc="-1" strike="noStrike">
                <a:solidFill>
                  <a:srgbClr val="60a5fa"/>
                </a:solidFill>
                <a:latin typeface="Segoe UI"/>
              </a:rPr>
              <a:t>Alabilir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ounded Rectangle 82"/>
          <p:cNvSpPr/>
          <p:nvPr/>
        </p:nvSpPr>
        <p:spPr>
          <a:xfrm>
            <a:off x="8275320" y="567828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TextBox 83"/>
          <p:cNvSpPr/>
          <p:nvPr/>
        </p:nvSpPr>
        <p:spPr>
          <a:xfrm>
            <a:off x="8366760" y="581544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9cabc4"/>
                </a:solidFill>
                <a:latin typeface="Segoe UI"/>
              </a:rPr>
              <a:t>-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ounded Rectangle 84"/>
          <p:cNvSpPr/>
          <p:nvPr/>
        </p:nvSpPr>
        <p:spPr>
          <a:xfrm>
            <a:off x="10113120" y="5678280"/>
            <a:ext cx="1782720" cy="493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TextBox 85"/>
          <p:cNvSpPr/>
          <p:nvPr/>
        </p:nvSpPr>
        <p:spPr>
          <a:xfrm>
            <a:off x="10204560" y="5815440"/>
            <a:ext cx="1599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9cabc4"/>
                </a:solidFill>
                <a:latin typeface="Segoe UI"/>
              </a:rPr>
              <a:t>-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ounded Rectangle 86"/>
          <p:cNvSpPr/>
          <p:nvPr/>
        </p:nvSpPr>
        <p:spPr>
          <a:xfrm>
            <a:off x="567000" y="5742360"/>
            <a:ext cx="11063880" cy="456840"/>
          </a:xfrm>
          <a:prstGeom prst="roundRect">
            <a:avLst>
              <a:gd name="adj" fmla="val 14000"/>
            </a:avLst>
          </a:prstGeom>
          <a:solidFill>
            <a:srgbClr val="1b2640"/>
          </a:solidFill>
          <a:ln w="12700">
            <a:solidFill>
              <a:srgbClr val="f8717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87"/>
          <p:cNvSpPr/>
          <p:nvPr/>
        </p:nvSpPr>
        <p:spPr>
          <a:xfrm>
            <a:off x="868680" y="5852160"/>
            <a:ext cx="10515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Segoe UI"/>
              </a:rPr>
              <a:t>Onemli: Sef paneli siparis girisi ve raporlama yapar, ancak mutfak modulundeki Hazirlaniyor / Tamamlandi butonlarini guncelleyemez.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Rectangle 88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" name="TextBox 89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90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04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GARSON MODULU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Giris sonrasi A La Carte Secimi ve Masa Listesi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Garson kullanici adi ile girer ve calistigi A La Carte restorani kendisi secer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Rounded Rectangle 6"/>
          <p:cNvSpPr/>
          <p:nvPr/>
        </p:nvSpPr>
        <p:spPr>
          <a:xfrm>
            <a:off x="516600" y="2089800"/>
            <a:ext cx="5449320" cy="264096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54" name="Picture 7" descr="t40-garson-alakart-secimi.png"/>
          <p:cNvPicPr/>
          <p:nvPr/>
        </p:nvPicPr>
        <p:blipFill>
          <a:blip r:embed="rId1"/>
          <a:stretch/>
        </p:blipFill>
        <p:spPr>
          <a:xfrm>
            <a:off x="567000" y="2140200"/>
            <a:ext cx="5348880" cy="2540520"/>
          </a:xfrm>
          <a:prstGeom prst="rect">
            <a:avLst/>
          </a:prstGeom>
          <a:ln w="0">
            <a:noFill/>
          </a:ln>
        </p:spPr>
      </p:pic>
      <p:sp>
        <p:nvSpPr>
          <p:cNvPr id="255" name="TextBox 8"/>
          <p:cNvSpPr/>
          <p:nvPr/>
        </p:nvSpPr>
        <p:spPr>
          <a:xfrm>
            <a:off x="567000" y="4790880"/>
            <a:ext cx="53488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1  Alakart Secimi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9"/>
          <p:cNvSpPr/>
          <p:nvPr/>
        </p:nvSpPr>
        <p:spPr>
          <a:xfrm>
            <a:off x="567000" y="5037840"/>
            <a:ext cx="53488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Sifre: 1234 / admin123  -  ahmet, mehmet, garnon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ounded Rectangle 10"/>
          <p:cNvSpPr/>
          <p:nvPr/>
        </p:nvSpPr>
        <p:spPr>
          <a:xfrm>
            <a:off x="6222600" y="2089800"/>
            <a:ext cx="5449320" cy="264096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58" name="Picture 11" descr="t41-garson-masa-listesi-steakhouse.png"/>
          <p:cNvPicPr/>
          <p:nvPr/>
        </p:nvPicPr>
        <p:blipFill>
          <a:blip r:embed="rId2"/>
          <a:stretch/>
        </p:blipFill>
        <p:spPr>
          <a:xfrm>
            <a:off x="6272640" y="2140200"/>
            <a:ext cx="5348880" cy="2540520"/>
          </a:xfrm>
          <a:prstGeom prst="rect">
            <a:avLst/>
          </a:prstGeom>
          <a:ln w="0">
            <a:noFill/>
          </a:ln>
        </p:spPr>
      </p:pic>
      <p:sp>
        <p:nvSpPr>
          <p:cNvPr id="259" name="TextBox 12"/>
          <p:cNvSpPr/>
          <p:nvPr/>
        </p:nvSpPr>
        <p:spPr>
          <a:xfrm>
            <a:off x="6272640" y="4790880"/>
            <a:ext cx="53488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2  Masa Listesi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13"/>
          <p:cNvSpPr/>
          <p:nvPr/>
        </p:nvSpPr>
        <p:spPr>
          <a:xfrm>
            <a:off x="6272640" y="5037840"/>
            <a:ext cx="53488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Diamond Prime VIP, Mahzen Loca 1-3 ve diger masalar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Rounded Rectangle 14"/>
          <p:cNvSpPr/>
          <p:nvPr/>
        </p:nvSpPr>
        <p:spPr>
          <a:xfrm>
            <a:off x="567000" y="5504760"/>
            <a:ext cx="11063880" cy="694440"/>
          </a:xfrm>
          <a:prstGeom prst="roundRect">
            <a:avLst>
              <a:gd name="adj" fmla="val 7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15"/>
          <p:cNvSpPr/>
          <p:nvPr/>
        </p:nvSpPr>
        <p:spPr>
          <a:xfrm>
            <a:off x="868680" y="5632560"/>
            <a:ext cx="1051524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1080" spc="-1" strike="noStrike">
                <a:solidFill>
                  <a:srgbClr val="eab308"/>
                </a:solidFill>
                <a:latin typeface="Segoe UI"/>
              </a:rPr>
              <a:t>▸  </a:t>
            </a:r>
            <a:r>
              <a:rPr b="0" lang="en-US" sz="1080" spc="-1" strike="noStrike">
                <a:solidFill>
                  <a:srgbClr val="ffffff"/>
                </a:solidFill>
                <a:latin typeface="Segoe UI"/>
              </a:rPr>
              <a:t>Garson 5 A La Carte arasindan secim yapar; mutfaga ozel kullanici girisi yaptiginda bu secim ekrani hic cikmaz.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1080" spc="-1" strike="noStrike">
                <a:solidFill>
                  <a:srgbClr val="eab308"/>
                </a:solidFill>
                <a:latin typeface="Segoe UI"/>
              </a:rPr>
              <a:t>▸  </a:t>
            </a:r>
            <a:r>
              <a:rPr b="0" lang="en-US" sz="1080" spc="-1" strike="noStrike">
                <a:solidFill>
                  <a:srgbClr val="ffffff"/>
                </a:solidFill>
                <a:latin typeface="Segoe UI"/>
              </a:rPr>
              <a:t>Seçim sonrasinda o alakartin masalari, menuleri ve mutfagi otomatik olarak belirlenir; yanlislikla diger restoran siparisi girilemez.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ectangle 16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TextBox 17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18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05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GARSON MODULU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Menu, Kategori Gruplari ve Arama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Menu gruplari sistem yoneticisi tarafindan tanimlanir; garson hizli arama ile urune ulasir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Rounded Rectangle 6"/>
          <p:cNvSpPr/>
          <p:nvPr/>
        </p:nvSpPr>
        <p:spPr>
          <a:xfrm>
            <a:off x="2044800" y="1686960"/>
            <a:ext cx="8108280" cy="390420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72" name="Picture 7" descr="t62-menu.png"/>
          <p:cNvPicPr/>
          <p:nvPr/>
        </p:nvPicPr>
        <p:blipFill>
          <a:blip r:embed="rId1"/>
          <a:stretch/>
        </p:blipFill>
        <p:spPr>
          <a:xfrm>
            <a:off x="2094840" y="1737360"/>
            <a:ext cx="8007840" cy="3803400"/>
          </a:xfrm>
          <a:prstGeom prst="rect">
            <a:avLst/>
          </a:prstGeom>
          <a:ln w="0">
            <a:noFill/>
          </a:ln>
        </p:spPr>
      </p:pic>
      <p:sp>
        <p:nvSpPr>
          <p:cNvPr id="273" name="TextBox 8"/>
          <p:cNvSpPr/>
          <p:nvPr/>
        </p:nvSpPr>
        <p:spPr>
          <a:xfrm>
            <a:off x="567000" y="5650920"/>
            <a:ext cx="110638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Ornek: Firinlanmis Ilikli Dana Kemigi &amp; Sarimsakli Ekmek  -  kategori gruplari, arama kutusu ve urun kartlari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ounded Rectangle 9"/>
          <p:cNvSpPr/>
          <p:nvPr/>
        </p:nvSpPr>
        <p:spPr>
          <a:xfrm>
            <a:off x="567000" y="5687640"/>
            <a:ext cx="11063880" cy="511560"/>
          </a:xfrm>
          <a:prstGeom prst="roundRect">
            <a:avLst>
              <a:gd name="adj" fmla="val 10000"/>
            </a:avLst>
          </a:prstGeom>
          <a:solidFill>
            <a:srgbClr val="1b2640"/>
          </a:solidFill>
          <a:ln w="12700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TextBox 10"/>
          <p:cNvSpPr/>
          <p:nvPr/>
        </p:nvSpPr>
        <p:spPr>
          <a:xfrm>
            <a:off x="868680" y="5815440"/>
            <a:ext cx="10515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Segoe UI"/>
              </a:rPr>
              <a:t>63 menu ogesi  -  24 ogede yemege ozel servis notu tanimli  -  her oge icin kategori grubu, aciklama ve fiyat alanlari yonetilir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Rectangle 11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12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13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06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GARSON MODULU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Yemege Ozel Servis Notlari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Menu taniminda yemege eklenen servis notlari siparis ekraninda secilebilir olarak sunulur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Rounded Rectangle 6"/>
          <p:cNvSpPr/>
          <p:nvPr/>
        </p:nvSpPr>
        <p:spPr>
          <a:xfrm>
            <a:off x="516600" y="2005920"/>
            <a:ext cx="5495040" cy="266292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85" name="Picture 7" descr="t62-menu.png"/>
          <p:cNvPicPr/>
          <p:nvPr/>
        </p:nvPicPr>
        <p:blipFill>
          <a:blip r:embed="rId1"/>
          <a:stretch/>
        </p:blipFill>
        <p:spPr>
          <a:xfrm>
            <a:off x="567000" y="2056320"/>
            <a:ext cx="5394600" cy="2562120"/>
          </a:xfrm>
          <a:prstGeom prst="rect">
            <a:avLst/>
          </a:prstGeom>
          <a:ln w="0">
            <a:noFill/>
          </a:ln>
        </p:spPr>
      </p:pic>
      <p:sp>
        <p:nvSpPr>
          <p:cNvPr id="286" name="TextBox 8"/>
          <p:cNvSpPr/>
          <p:nvPr/>
        </p:nvSpPr>
        <p:spPr>
          <a:xfrm>
            <a:off x="567000" y="4728600"/>
            <a:ext cx="53946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1  Not Secimi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9"/>
          <p:cNvSpPr/>
          <p:nvPr/>
        </p:nvSpPr>
        <p:spPr>
          <a:xfrm>
            <a:off x="567000" y="4975560"/>
            <a:ext cx="53946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Ekstra Kizarmis Ekmek / Sarimsaksiz Ekmek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Rounded Rectangle 10"/>
          <p:cNvSpPr/>
          <p:nvPr/>
        </p:nvSpPr>
        <p:spPr>
          <a:xfrm>
            <a:off x="6195240" y="2005920"/>
            <a:ext cx="5495040" cy="266292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89" name="Picture 11" descr="t62-menu.png"/>
          <p:cNvPicPr/>
          <p:nvPr/>
        </p:nvPicPr>
        <p:blipFill>
          <a:blip r:embed="rId2"/>
          <a:stretch/>
        </p:blipFill>
        <p:spPr>
          <a:xfrm>
            <a:off x="6245280" y="2056320"/>
            <a:ext cx="5394600" cy="2562120"/>
          </a:xfrm>
          <a:prstGeom prst="rect">
            <a:avLst/>
          </a:prstGeom>
          <a:ln w="0">
            <a:noFill/>
          </a:ln>
        </p:spPr>
      </p:pic>
      <p:sp>
        <p:nvSpPr>
          <p:cNvPr id="290" name="TextBox 12"/>
          <p:cNvSpPr/>
          <p:nvPr/>
        </p:nvSpPr>
        <p:spPr>
          <a:xfrm>
            <a:off x="6245280" y="4728600"/>
            <a:ext cx="53946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2  Sepette Gorunum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13"/>
          <p:cNvSpPr/>
          <p:nvPr/>
        </p:nvSpPr>
        <p:spPr>
          <a:xfrm>
            <a:off x="6245280" y="4975560"/>
            <a:ext cx="53946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Secilen not siparis kaleminde ayrica gosterilir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ounded Rectangle 14"/>
          <p:cNvSpPr/>
          <p:nvPr/>
        </p:nvSpPr>
        <p:spPr>
          <a:xfrm>
            <a:off x="567000" y="5486400"/>
            <a:ext cx="11063880" cy="712800"/>
          </a:xfrm>
          <a:prstGeom prst="roundRect">
            <a:avLst>
              <a:gd name="adj" fmla="val 7000"/>
            </a:avLst>
          </a:prstGeom>
          <a:solidFill>
            <a:srgbClr val="141d33"/>
          </a:solidFill>
          <a:ln w="12700">
            <a:solidFill>
              <a:srgbClr val="34d3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15"/>
          <p:cNvSpPr/>
          <p:nvPr/>
        </p:nvSpPr>
        <p:spPr>
          <a:xfrm>
            <a:off x="868680" y="5614560"/>
            <a:ext cx="1051524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1080" spc="-1" strike="noStrike">
                <a:solidFill>
                  <a:srgbClr val="34d399"/>
                </a:solidFill>
                <a:latin typeface="Segoe UI"/>
              </a:rPr>
              <a:t>▸  </a:t>
            </a:r>
            <a:r>
              <a:rPr b="0" lang="en-US" sz="1080" spc="-1" strike="noStrike">
                <a:solidFill>
                  <a:srgbClr val="ffffff"/>
                </a:solidFill>
                <a:latin typeface="Segoe UI"/>
              </a:rPr>
              <a:t>Servis notu menu ogesine baglidir: not, mutfaga yalnizca urunle birlikte iletilir, garson ayrica yazmak zorunda kalmaz.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1080" spc="-1" strike="noStrike">
                <a:solidFill>
                  <a:srgbClr val="34d399"/>
                </a:solidFill>
                <a:latin typeface="Segoe UI"/>
              </a:rPr>
              <a:t>▸  </a:t>
            </a:r>
            <a:r>
              <a:rPr b="0" lang="en-US" sz="1080" spc="-1" strike="noStrike">
                <a:solidFill>
                  <a:srgbClr val="ffffff"/>
                </a:solidFill>
                <a:latin typeface="Segoe UI"/>
              </a:rPr>
              <a:t>Siparis detayinda hem garson hem mutfak ayni notu gorur; "az kizartilmis" gibi ifadeler icin standart bir dil olusur.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Rectangle 16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TextBox 17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18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07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GARSON MODULU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Siparislerim: Gunluk Siparisler ve Mutfak Durumu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O gunku tum siparisler listelenir; mutfak durumu rozet olarak yanisinda gorunur, siparisa tiklaninca detay acilir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Rounded Rectangle 6"/>
          <p:cNvSpPr/>
          <p:nvPr/>
        </p:nvSpPr>
        <p:spPr>
          <a:xfrm>
            <a:off x="516600" y="1920960"/>
            <a:ext cx="6546600" cy="316224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03" name="Picture 7" descr="t70-siparislerim-liste.png"/>
          <p:cNvPicPr/>
          <p:nvPr/>
        </p:nvPicPr>
        <p:blipFill>
          <a:blip r:embed="rId1"/>
          <a:stretch/>
        </p:blipFill>
        <p:spPr>
          <a:xfrm>
            <a:off x="567000" y="1971000"/>
            <a:ext cx="6446160" cy="3061800"/>
          </a:xfrm>
          <a:prstGeom prst="rect">
            <a:avLst/>
          </a:prstGeom>
          <a:ln w="0">
            <a:noFill/>
          </a:ln>
        </p:spPr>
      </p:pic>
      <p:sp>
        <p:nvSpPr>
          <p:cNvPr id="304" name="TextBox 8"/>
          <p:cNvSpPr/>
          <p:nvPr/>
        </p:nvSpPr>
        <p:spPr>
          <a:xfrm>
            <a:off x="567000" y="5142960"/>
            <a:ext cx="64461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1  Siparis Listesi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Box 9"/>
          <p:cNvSpPr/>
          <p:nvPr/>
        </p:nvSpPr>
        <p:spPr>
          <a:xfrm>
            <a:off x="567000" y="5389920"/>
            <a:ext cx="64461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Tarih, masa, urun sayisi ve Bekliyor / Hazirlaniyor / Tamamlandi rozetleri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Rounded Rectangle 10"/>
          <p:cNvSpPr/>
          <p:nvPr/>
        </p:nvSpPr>
        <p:spPr>
          <a:xfrm>
            <a:off x="7319880" y="2441880"/>
            <a:ext cx="4352040" cy="212004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07" name="Picture 11" descr="t71-siparis-detay.png"/>
          <p:cNvPicPr/>
          <p:nvPr/>
        </p:nvPicPr>
        <p:blipFill>
          <a:blip r:embed="rId2"/>
          <a:stretch/>
        </p:blipFill>
        <p:spPr>
          <a:xfrm>
            <a:off x="7369920" y="2492280"/>
            <a:ext cx="4251600" cy="2019240"/>
          </a:xfrm>
          <a:prstGeom prst="rect">
            <a:avLst/>
          </a:prstGeom>
          <a:ln w="0">
            <a:noFill/>
          </a:ln>
        </p:spPr>
      </p:pic>
      <p:sp>
        <p:nvSpPr>
          <p:cNvPr id="308" name="TextBox 12"/>
          <p:cNvSpPr/>
          <p:nvPr/>
        </p:nvSpPr>
        <p:spPr>
          <a:xfrm>
            <a:off x="7369920" y="4621680"/>
            <a:ext cx="42516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2  Siparis Detayi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13"/>
          <p:cNvSpPr/>
          <p:nvPr/>
        </p:nvSpPr>
        <p:spPr>
          <a:xfrm>
            <a:off x="7369920" y="4868640"/>
            <a:ext cx="42516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Urunler, servis notlari ve mutfak durumu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Rounded Rectangle 14"/>
          <p:cNvSpPr/>
          <p:nvPr/>
        </p:nvSpPr>
        <p:spPr>
          <a:xfrm>
            <a:off x="567000" y="565092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b2640"/>
          </a:solidFill>
          <a:ln w="12700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15"/>
          <p:cNvSpPr/>
          <p:nvPr/>
        </p:nvSpPr>
        <p:spPr>
          <a:xfrm>
            <a:off x="868680" y="5760720"/>
            <a:ext cx="10515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Segoe UI"/>
              </a:rPr>
              <a:t>Garson mutfaktaki durumu beklemez; siparisin hangi asamada oldugunu tek bakista gorur ve misafire dogru bilgiyi aninda verir.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Rectangle 16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TextBox 17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Box 18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08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IPTAL AKISI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Garson Tarafindan Siparis Iptali - Uc Adimda Mutfaga kadar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Iptal islemi onay gerektirir, mutfaga bildirim sorulur ve sonuc yazici fisine cikar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Rounded Rectangle 6"/>
          <p:cNvSpPr/>
          <p:nvPr/>
        </p:nvSpPr>
        <p:spPr>
          <a:xfrm>
            <a:off x="567000" y="1737360"/>
            <a:ext cx="3538440" cy="603000"/>
          </a:xfrm>
          <a:prstGeom prst="roundRect">
            <a:avLst>
              <a:gd name="adj" fmla="val 8000"/>
            </a:avLst>
          </a:prstGeom>
          <a:solidFill>
            <a:srgbClr val="1b26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Rectangle 7"/>
          <p:cNvSpPr/>
          <p:nvPr/>
        </p:nvSpPr>
        <p:spPr>
          <a:xfrm>
            <a:off x="567000" y="1737360"/>
            <a:ext cx="50040" cy="60300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TextBox 8"/>
          <p:cNvSpPr/>
          <p:nvPr/>
        </p:nvSpPr>
        <p:spPr>
          <a:xfrm>
            <a:off x="768240" y="1828800"/>
            <a:ext cx="914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eab308"/>
                </a:solidFill>
                <a:latin typeface="Segoe UI"/>
              </a:rPr>
              <a:t>ADIM 1</a:t>
            </a:r>
            <a:endParaRPr b="0" lang="tr-T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Box 9"/>
          <p:cNvSpPr/>
          <p:nvPr/>
        </p:nvSpPr>
        <p:spPr>
          <a:xfrm>
            <a:off x="768240" y="2048400"/>
            <a:ext cx="3135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Segoe UI"/>
              </a:rPr>
              <a:t>Iptal Onayi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ounded Rectangle 10"/>
          <p:cNvSpPr/>
          <p:nvPr/>
        </p:nvSpPr>
        <p:spPr>
          <a:xfrm>
            <a:off x="516600" y="2648160"/>
            <a:ext cx="3638880" cy="1781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25" name="Picture 11" descr="t90-iptal-sebep-dolu.png"/>
          <p:cNvPicPr/>
          <p:nvPr/>
        </p:nvPicPr>
        <p:blipFill>
          <a:blip r:embed="rId1"/>
          <a:stretch/>
        </p:blipFill>
        <p:spPr>
          <a:xfrm>
            <a:off x="567000" y="2698200"/>
            <a:ext cx="3538440" cy="1680480"/>
          </a:xfrm>
          <a:prstGeom prst="rect">
            <a:avLst/>
          </a:prstGeom>
          <a:ln w="0">
            <a:noFill/>
          </a:ln>
        </p:spPr>
      </p:pic>
      <p:sp>
        <p:nvSpPr>
          <p:cNvPr id="326" name="TextBox 12"/>
          <p:cNvSpPr/>
          <p:nvPr/>
        </p:nvSpPr>
        <p:spPr>
          <a:xfrm>
            <a:off x="612720" y="4754880"/>
            <a:ext cx="344700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6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Iptal butonuna basildiginda onay penceresi acilir ve sebep girilmesi istenir. Misafir vazgecti gibi bir gerekce siparis kaydinda saklanir.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13"/>
          <p:cNvSpPr/>
          <p:nvPr/>
        </p:nvSpPr>
        <p:spPr>
          <a:xfrm>
            <a:off x="4087440" y="3200400"/>
            <a:ext cx="273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ab308"/>
                </a:solidFill>
                <a:latin typeface="Segoe UI"/>
              </a:rPr>
              <a:t>&gt;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Rounded Rectangle 14"/>
          <p:cNvSpPr/>
          <p:nvPr/>
        </p:nvSpPr>
        <p:spPr>
          <a:xfrm>
            <a:off x="4325040" y="1737360"/>
            <a:ext cx="3538440" cy="603000"/>
          </a:xfrm>
          <a:prstGeom prst="roundRect">
            <a:avLst>
              <a:gd name="adj" fmla="val 8000"/>
            </a:avLst>
          </a:prstGeom>
          <a:solidFill>
            <a:srgbClr val="1b26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Rectangle 15"/>
          <p:cNvSpPr/>
          <p:nvPr/>
        </p:nvSpPr>
        <p:spPr>
          <a:xfrm>
            <a:off x="4325040" y="1737360"/>
            <a:ext cx="50040" cy="6030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TextBox 16"/>
          <p:cNvSpPr/>
          <p:nvPr/>
        </p:nvSpPr>
        <p:spPr>
          <a:xfrm>
            <a:off x="4526280" y="1828800"/>
            <a:ext cx="914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f87171"/>
                </a:solidFill>
                <a:latin typeface="Segoe UI"/>
              </a:rPr>
              <a:t>ADIM 2</a:t>
            </a:r>
            <a:endParaRPr b="0" lang="tr-T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17"/>
          <p:cNvSpPr/>
          <p:nvPr/>
        </p:nvSpPr>
        <p:spPr>
          <a:xfrm>
            <a:off x="4526280" y="2048400"/>
            <a:ext cx="3135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Segoe UI"/>
              </a:rPr>
              <a:t>Mutfaga bildirilsin mi?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Rounded Rectangle 18"/>
          <p:cNvSpPr/>
          <p:nvPr/>
        </p:nvSpPr>
        <p:spPr>
          <a:xfrm>
            <a:off x="4275000" y="2648160"/>
            <a:ext cx="3638880" cy="1781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33" name="Picture 19" descr="t74-mutfaga-bildirilsin-mi.png"/>
          <p:cNvPicPr/>
          <p:nvPr/>
        </p:nvPicPr>
        <p:blipFill>
          <a:blip r:embed="rId2"/>
          <a:stretch/>
        </p:blipFill>
        <p:spPr>
          <a:xfrm>
            <a:off x="4325040" y="2698200"/>
            <a:ext cx="3538440" cy="1680480"/>
          </a:xfrm>
          <a:prstGeom prst="rect">
            <a:avLst/>
          </a:prstGeom>
          <a:ln w="0">
            <a:noFill/>
          </a:ln>
        </p:spPr>
      </p:pic>
      <p:sp>
        <p:nvSpPr>
          <p:cNvPr id="334" name="TextBox 20"/>
          <p:cNvSpPr/>
          <p:nvPr/>
        </p:nvSpPr>
        <p:spPr>
          <a:xfrm>
            <a:off x="4370760" y="4754880"/>
            <a:ext cx="344700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6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Sistem mutfaga bilgi gonderilsin mi diye sorar. Hayir secilirse iptal mutfaga bildirilmez, evet secilirse iptal bildirimi mutfaga aninda iletilir.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21"/>
          <p:cNvSpPr/>
          <p:nvPr/>
        </p:nvSpPr>
        <p:spPr>
          <a:xfrm>
            <a:off x="7845480" y="3200400"/>
            <a:ext cx="273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ab308"/>
                </a:solidFill>
                <a:latin typeface="Segoe UI"/>
              </a:rPr>
              <a:t>&gt;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Rounded Rectangle 22"/>
          <p:cNvSpPr/>
          <p:nvPr/>
        </p:nvSpPr>
        <p:spPr>
          <a:xfrm>
            <a:off x="8083440" y="1737360"/>
            <a:ext cx="3538440" cy="603000"/>
          </a:xfrm>
          <a:prstGeom prst="roundRect">
            <a:avLst>
              <a:gd name="adj" fmla="val 8000"/>
            </a:avLst>
          </a:prstGeom>
          <a:solidFill>
            <a:srgbClr val="1b26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Rectangle 23"/>
          <p:cNvSpPr/>
          <p:nvPr/>
        </p:nvSpPr>
        <p:spPr>
          <a:xfrm>
            <a:off x="8083440" y="1737360"/>
            <a:ext cx="50040" cy="60300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8" name="TextBox 24"/>
          <p:cNvSpPr/>
          <p:nvPr/>
        </p:nvSpPr>
        <p:spPr>
          <a:xfrm>
            <a:off x="8284320" y="1828800"/>
            <a:ext cx="914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34d399"/>
                </a:solidFill>
                <a:latin typeface="Segoe UI"/>
              </a:rPr>
              <a:t>ADIM 3</a:t>
            </a:r>
            <a:endParaRPr b="0" lang="tr-T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Box 25"/>
          <p:cNvSpPr/>
          <p:nvPr/>
        </p:nvSpPr>
        <p:spPr>
          <a:xfrm>
            <a:off x="8284320" y="2048400"/>
            <a:ext cx="3135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Segoe UI"/>
              </a:rPr>
              <a:t>Iptal Fisine Cikis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Rounded Rectangle 26"/>
          <p:cNvSpPr/>
          <p:nvPr/>
        </p:nvSpPr>
        <p:spPr>
          <a:xfrm>
            <a:off x="8033040" y="2648160"/>
            <a:ext cx="3638880" cy="1781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41" name="Picture 27" descr="t91-iptal-fisi-dolu.png"/>
          <p:cNvPicPr/>
          <p:nvPr/>
        </p:nvPicPr>
        <p:blipFill>
          <a:blip r:embed="rId3"/>
          <a:stretch/>
        </p:blipFill>
        <p:spPr>
          <a:xfrm>
            <a:off x="8083440" y="2698200"/>
            <a:ext cx="3538440" cy="1680480"/>
          </a:xfrm>
          <a:prstGeom prst="rect">
            <a:avLst/>
          </a:prstGeom>
          <a:ln w="0">
            <a:noFill/>
          </a:ln>
        </p:spPr>
      </p:pic>
      <p:sp>
        <p:nvSpPr>
          <p:cNvPr id="342" name="TextBox 28"/>
          <p:cNvSpPr/>
          <p:nvPr/>
        </p:nvSpPr>
        <p:spPr>
          <a:xfrm>
            <a:off x="8129160" y="4754880"/>
            <a:ext cx="344700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6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Siparis iptal edildikten sonra ekrana iptal fisini yazdirma secenegi gelir. Yazdirildiginde kayitli yazicidan SİPARİŞ İPTAL FİŞİ cikar.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Rounded Rectangle 29"/>
          <p:cNvSpPr/>
          <p:nvPr/>
        </p:nvSpPr>
        <p:spPr>
          <a:xfrm>
            <a:off x="567000" y="5706000"/>
            <a:ext cx="11063880" cy="493560"/>
          </a:xfrm>
          <a:prstGeom prst="roundRect">
            <a:avLst>
              <a:gd name="adj" fmla="val 11000"/>
            </a:avLst>
          </a:prstGeom>
          <a:solidFill>
            <a:srgbClr val="1b2640"/>
          </a:solidFill>
          <a:ln w="12700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TextBox 30"/>
          <p:cNvSpPr/>
          <p:nvPr/>
        </p:nvSpPr>
        <p:spPr>
          <a:xfrm>
            <a:off x="868680" y="5815440"/>
            <a:ext cx="10515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Segoe UI"/>
              </a:rPr>
              <a:t>Fis ciktisi: tarih - saat - alakart - masa - garson - iptal sebebi ve iptal edilen urunlerin adet listesi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Rectangle 31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6" name="TextBox 32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33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09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9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0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MUTFAK MODULU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Iptal Edilen Siparisler Mutfakta Gorunur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Bildirimi alinan iptal siparisleri ayri sekmede toplanir; mutfak bu siparisleri hazirlamaz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Rounded Rectangle 6"/>
          <p:cNvSpPr/>
          <p:nvPr/>
        </p:nvSpPr>
        <p:spPr>
          <a:xfrm>
            <a:off x="2217960" y="1686960"/>
            <a:ext cx="7761960" cy="37396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54" name="Picture 7" descr="t80-mutfak-iptal-edilenler.png"/>
          <p:cNvPicPr/>
          <p:nvPr/>
        </p:nvPicPr>
        <p:blipFill>
          <a:blip r:embed="rId1"/>
          <a:stretch/>
        </p:blipFill>
        <p:spPr>
          <a:xfrm>
            <a:off x="2268360" y="1737360"/>
            <a:ext cx="7661520" cy="3638880"/>
          </a:xfrm>
          <a:prstGeom prst="rect">
            <a:avLst/>
          </a:prstGeom>
          <a:ln w="0">
            <a:noFill/>
          </a:ln>
        </p:spPr>
      </p:pic>
      <p:sp>
        <p:nvSpPr>
          <p:cNvPr id="355" name="TextBox 8"/>
          <p:cNvSpPr/>
          <p:nvPr/>
        </p:nvSpPr>
        <p:spPr>
          <a:xfrm>
            <a:off x="567000" y="5486400"/>
            <a:ext cx="110638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Iptal Edilenler sekmesi - HAZIRLAMAYIN uyarisi, iptal edilen urun ve iptal sebebi gorunur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Rounded Rectangle 9"/>
          <p:cNvSpPr/>
          <p:nvPr/>
        </p:nvSpPr>
        <p:spPr>
          <a:xfrm>
            <a:off x="567000" y="5596200"/>
            <a:ext cx="5394600" cy="603000"/>
          </a:xfrm>
          <a:prstGeom prst="roundRect">
            <a:avLst>
              <a:gd name="adj" fmla="val 9000"/>
            </a:avLst>
          </a:prstGeom>
          <a:solidFill>
            <a:srgbClr val="141d33"/>
          </a:solidFill>
          <a:ln w="12700">
            <a:solidFill>
              <a:srgbClr val="f8717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7" name="TextBox 10"/>
          <p:cNvSpPr/>
          <p:nvPr/>
        </p:nvSpPr>
        <p:spPr>
          <a:xfrm>
            <a:off x="822960" y="5706000"/>
            <a:ext cx="4937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Segoe UI"/>
              </a:rPr>
              <a:t>Iptal, mutfagin ekraninda ayri bir sekmede birikir; hazirlanan gida ve kullanilan emek aninda tasarruf edilir.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Rounded Rectangle 11"/>
          <p:cNvSpPr/>
          <p:nvPr/>
        </p:nvSpPr>
        <p:spPr>
          <a:xfrm>
            <a:off x="6236280" y="5596200"/>
            <a:ext cx="5394600" cy="603000"/>
          </a:xfrm>
          <a:prstGeom prst="roundRect">
            <a:avLst>
              <a:gd name="adj" fmla="val 9000"/>
            </a:avLst>
          </a:prstGeom>
          <a:solidFill>
            <a:srgbClr val="141d33"/>
          </a:solidFill>
          <a:ln w="12700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9" name="TextBox 12"/>
          <p:cNvSpPr/>
          <p:nvPr/>
        </p:nvSpPr>
        <p:spPr>
          <a:xfrm>
            <a:off x="6492240" y="5706000"/>
            <a:ext cx="4937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Segoe UI"/>
              </a:rPr>
              <a:t>Iptal sayisi ve sebebi raporlanabilir hale gelir; surekli iptal edilen urunler menu ve stok planlamasinda degerlendirilir.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Rectangle 13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TextBox 14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Box 15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10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4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MUTFAK MODULU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Anlik Siparis Ekrani ve Durum Butonlari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Her A La Carte icin ayri mutfak kullanicisi; giris aninda alakart secimi yapmaz, otomatik kendi restoranina baglanir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Rounded Rectangle 6"/>
          <p:cNvSpPr/>
          <p:nvPr/>
        </p:nvSpPr>
        <p:spPr>
          <a:xfrm>
            <a:off x="516600" y="1919520"/>
            <a:ext cx="6820920" cy="329256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69" name="Picture 7" descr="t95-mutfak-rol-butonlari.png"/>
          <p:cNvPicPr/>
          <p:nvPr/>
        </p:nvPicPr>
        <p:blipFill>
          <a:blip r:embed="rId1"/>
          <a:stretch/>
        </p:blipFill>
        <p:spPr>
          <a:xfrm>
            <a:off x="567000" y="1969920"/>
            <a:ext cx="6720480" cy="3192120"/>
          </a:xfrm>
          <a:prstGeom prst="rect">
            <a:avLst/>
          </a:prstGeom>
          <a:ln w="0">
            <a:noFill/>
          </a:ln>
        </p:spPr>
      </p:pic>
      <p:sp>
        <p:nvSpPr>
          <p:cNvPr id="370" name="TextBox 8"/>
          <p:cNvSpPr/>
          <p:nvPr/>
        </p:nvSpPr>
        <p:spPr>
          <a:xfrm>
            <a:off x="567000" y="5272200"/>
            <a:ext cx="67204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Mutfak KDS ekrani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9"/>
          <p:cNvSpPr/>
          <p:nvPr/>
        </p:nvSpPr>
        <p:spPr>
          <a:xfrm>
            <a:off x="567000" y="5518800"/>
            <a:ext cx="6720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Garson siparisleri aninda listelenir; Hazirlaniyor ve Tamamlandi butonlari mutfak kullanicisinda aktiftir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Rounded Rectangle 10"/>
          <p:cNvSpPr/>
          <p:nvPr/>
        </p:nvSpPr>
        <p:spPr>
          <a:xfrm>
            <a:off x="7644240" y="1737360"/>
            <a:ext cx="3986280" cy="365724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3" name="TextBox 11"/>
          <p:cNvSpPr/>
          <p:nvPr/>
        </p:nvSpPr>
        <p:spPr>
          <a:xfrm>
            <a:off x="7882200" y="1920240"/>
            <a:ext cx="35200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ab308"/>
                </a:solidFill>
                <a:latin typeface="Segoe UI"/>
              </a:rPr>
              <a:t>FILTRE SEKMELERI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Rectangle 12"/>
          <p:cNvSpPr/>
          <p:nvPr/>
        </p:nvSpPr>
        <p:spPr>
          <a:xfrm>
            <a:off x="7882200" y="2286000"/>
            <a:ext cx="45360" cy="27396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5" name="TextBox 13"/>
          <p:cNvSpPr/>
          <p:nvPr/>
        </p:nvSpPr>
        <p:spPr>
          <a:xfrm>
            <a:off x="8083440" y="2304360"/>
            <a:ext cx="3382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Aktif Siparisler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Rectangle 14"/>
          <p:cNvSpPr/>
          <p:nvPr/>
        </p:nvSpPr>
        <p:spPr>
          <a:xfrm>
            <a:off x="7882200" y="2670120"/>
            <a:ext cx="45360" cy="27396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TextBox 15"/>
          <p:cNvSpPr/>
          <p:nvPr/>
        </p:nvSpPr>
        <p:spPr>
          <a:xfrm>
            <a:off x="8083440" y="2688480"/>
            <a:ext cx="3382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Bekleyenler (Ocak Bekliyor)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Rectangle 16"/>
          <p:cNvSpPr/>
          <p:nvPr/>
        </p:nvSpPr>
        <p:spPr>
          <a:xfrm>
            <a:off x="7882200" y="3054240"/>
            <a:ext cx="45360" cy="27396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TextBox 17"/>
          <p:cNvSpPr/>
          <p:nvPr/>
        </p:nvSpPr>
        <p:spPr>
          <a:xfrm>
            <a:off x="8083440" y="3072240"/>
            <a:ext cx="3382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Guncellenenler (Revizyon)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Rectangle 18"/>
          <p:cNvSpPr/>
          <p:nvPr/>
        </p:nvSpPr>
        <p:spPr>
          <a:xfrm>
            <a:off x="7882200" y="3438000"/>
            <a:ext cx="45360" cy="273960"/>
          </a:xfrm>
          <a:prstGeom prst="rect">
            <a:avLst/>
          </a:prstGeom>
          <a:solidFill>
            <a:srgbClr val="9cab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1" name="TextBox 19"/>
          <p:cNvSpPr/>
          <p:nvPr/>
        </p:nvSpPr>
        <p:spPr>
          <a:xfrm>
            <a:off x="8083440" y="3456360"/>
            <a:ext cx="3382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9cabc4"/>
                </a:solidFill>
                <a:latin typeface="Segoe UI"/>
              </a:rPr>
              <a:t>Hazirlaniyor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Rectangle 20"/>
          <p:cNvSpPr/>
          <p:nvPr/>
        </p:nvSpPr>
        <p:spPr>
          <a:xfrm>
            <a:off x="7882200" y="3822120"/>
            <a:ext cx="45360" cy="273960"/>
          </a:xfrm>
          <a:prstGeom prst="rect">
            <a:avLst/>
          </a:prstGeom>
          <a:solidFill>
            <a:srgbClr val="9cab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3" name="TextBox 21"/>
          <p:cNvSpPr/>
          <p:nvPr/>
        </p:nvSpPr>
        <p:spPr>
          <a:xfrm>
            <a:off x="8083440" y="3840480"/>
            <a:ext cx="3382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9cabc4"/>
                </a:solidFill>
                <a:latin typeface="Segoe UI"/>
              </a:rPr>
              <a:t>Tamamlananlar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Rectangle 22"/>
          <p:cNvSpPr/>
          <p:nvPr/>
        </p:nvSpPr>
        <p:spPr>
          <a:xfrm>
            <a:off x="7882200" y="4206240"/>
            <a:ext cx="45360" cy="27396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5" name="TextBox 23"/>
          <p:cNvSpPr/>
          <p:nvPr/>
        </p:nvSpPr>
        <p:spPr>
          <a:xfrm>
            <a:off x="8083440" y="4224600"/>
            <a:ext cx="3382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87171"/>
                </a:solidFill>
                <a:latin typeface="Segoe UI"/>
              </a:rPr>
              <a:t>Iptal Edilenler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Rectangle 24"/>
          <p:cNvSpPr/>
          <p:nvPr/>
        </p:nvSpPr>
        <p:spPr>
          <a:xfrm>
            <a:off x="7882200" y="4590360"/>
            <a:ext cx="45360" cy="273960"/>
          </a:xfrm>
          <a:prstGeom prst="rect">
            <a:avLst/>
          </a:prstGeom>
          <a:solidFill>
            <a:srgbClr val="9cab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7" name="TextBox 25"/>
          <p:cNvSpPr/>
          <p:nvPr/>
        </p:nvSpPr>
        <p:spPr>
          <a:xfrm>
            <a:off x="8083440" y="4608720"/>
            <a:ext cx="3382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9cabc4"/>
                </a:solidFill>
                <a:latin typeface="Segoe UI"/>
              </a:rPr>
              <a:t>Tum Siparisler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Box 26"/>
          <p:cNvSpPr/>
          <p:nvPr/>
        </p:nvSpPr>
        <p:spPr>
          <a:xfrm>
            <a:off x="7882200" y="5029200"/>
            <a:ext cx="35200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4d399"/>
                </a:solidFill>
                <a:latin typeface="Segoe UI"/>
              </a:rPr>
              <a:t>Yetki notu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27"/>
          <p:cNvSpPr/>
          <p:nvPr/>
        </p:nvSpPr>
        <p:spPr>
          <a:xfrm>
            <a:off x="7882200" y="5285160"/>
            <a:ext cx="3520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9cabc4"/>
                </a:solidFill>
                <a:latin typeface="Segoe UI"/>
              </a:rPr>
              <a:t>Sef bu butonlari guncelleyemez.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28"/>
          <p:cNvSpPr/>
          <p:nvPr/>
        </p:nvSpPr>
        <p:spPr>
          <a:xfrm>
            <a:off x="7882200" y="5541120"/>
            <a:ext cx="3520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9cabc4"/>
                </a:solidFill>
                <a:latin typeface="Segoe UI"/>
              </a:rPr>
              <a:t>Garson yalnizca izler ve iptal eder.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Rounded Rectangle 29"/>
          <p:cNvSpPr/>
          <p:nvPr/>
        </p:nvSpPr>
        <p:spPr>
          <a:xfrm>
            <a:off x="567000" y="5669280"/>
            <a:ext cx="6720480" cy="529920"/>
          </a:xfrm>
          <a:prstGeom prst="roundRect">
            <a:avLst>
              <a:gd name="adj" fmla="val 10000"/>
            </a:avLst>
          </a:prstGeom>
          <a:solidFill>
            <a:srgbClr val="1b2640"/>
          </a:solidFill>
          <a:ln w="12700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TextBox 30"/>
          <p:cNvSpPr/>
          <p:nvPr/>
        </p:nvSpPr>
        <p:spPr>
          <a:xfrm>
            <a:off x="822960" y="5779080"/>
            <a:ext cx="630900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Segoe UI"/>
              </a:rPr>
              <a:t>Mutfak kullanicilari: mutfak.roofgarden, mutfak.steakhouse, mutfak.bluesea, mutfak.mandarin, mutfak.bellamerit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Rectangle 31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4" name="TextBox 32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Box 33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11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SEF MODULU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Sef Paneli: Sistemin Tamamini Anlik Izleme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Sef paneli yonetici ekranindan ayridir ve yalnizca operasyonun canli durumunu gosterir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Rounded Rectangle 6"/>
          <p:cNvSpPr/>
          <p:nvPr/>
        </p:nvSpPr>
        <p:spPr>
          <a:xfrm>
            <a:off x="516600" y="1827720"/>
            <a:ext cx="7323840" cy="353160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02" name="Picture 7" descr="t90-sef-paneli.png"/>
          <p:cNvPicPr/>
          <p:nvPr/>
        </p:nvPicPr>
        <p:blipFill>
          <a:blip r:embed="rId1"/>
          <a:stretch/>
        </p:blipFill>
        <p:spPr>
          <a:xfrm>
            <a:off x="567000" y="1878120"/>
            <a:ext cx="7223400" cy="3430800"/>
          </a:xfrm>
          <a:prstGeom prst="rect">
            <a:avLst/>
          </a:prstGeom>
          <a:ln w="0">
            <a:noFill/>
          </a:ln>
        </p:spPr>
      </p:pic>
      <p:sp>
        <p:nvSpPr>
          <p:cNvPr id="403" name="TextBox 8"/>
          <p:cNvSpPr/>
          <p:nvPr/>
        </p:nvSpPr>
        <p:spPr>
          <a:xfrm>
            <a:off x="567000" y="5419080"/>
            <a:ext cx="72234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Sef Paneli ana ekran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Box 9"/>
          <p:cNvSpPr/>
          <p:nvPr/>
        </p:nvSpPr>
        <p:spPr>
          <a:xfrm>
            <a:off x="567000" y="5665680"/>
            <a:ext cx="72234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Gunluk hareketlilik, alakart bazli durum ve canli siparis akisi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Rounded Rectangle 10"/>
          <p:cNvSpPr/>
          <p:nvPr/>
        </p:nvSpPr>
        <p:spPr>
          <a:xfrm>
            <a:off x="8138160" y="1737360"/>
            <a:ext cx="3492720" cy="37119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TextBox 11"/>
          <p:cNvSpPr/>
          <p:nvPr/>
        </p:nvSpPr>
        <p:spPr>
          <a:xfrm>
            <a:off x="8375760" y="1920240"/>
            <a:ext cx="30171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ab308"/>
                </a:solidFill>
                <a:latin typeface="Segoe UI"/>
              </a:rPr>
              <a:t>SEF NE YAPABILIR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Box 12"/>
          <p:cNvSpPr/>
          <p:nvPr/>
        </p:nvSpPr>
        <p:spPr>
          <a:xfrm>
            <a:off x="8375760" y="2286000"/>
            <a:ext cx="3017160" cy="15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8000"/>
              </a:lnSpc>
              <a:spcAft>
                <a:spcPts val="700"/>
              </a:spcAft>
            </a:pPr>
            <a:r>
              <a:rPr b="1" lang="en-US" sz="1080" spc="-1" strike="noStrike">
                <a:solidFill>
                  <a:srgbClr val="eab308"/>
                </a:solidFill>
                <a:latin typeface="Segoe UI"/>
              </a:rPr>
              <a:t>▸  </a:t>
            </a:r>
            <a:r>
              <a:rPr b="0" lang="en-US" sz="1080" spc="-1" strike="noStrike">
                <a:solidFill>
                  <a:srgbClr val="ffffff"/>
                </a:solidFill>
                <a:latin typeface="Segoe UI"/>
              </a:rPr>
              <a:t>Sistemin tum isleyisini anlik goruntuler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700"/>
              </a:spcAft>
            </a:pPr>
            <a:r>
              <a:rPr b="1" lang="en-US" sz="1080" spc="-1" strike="noStrike">
                <a:solidFill>
                  <a:srgbClr val="eab308"/>
                </a:solidFill>
                <a:latin typeface="Segoe UI"/>
              </a:rPr>
              <a:t>▸  </a:t>
            </a:r>
            <a:r>
              <a:rPr b="0" lang="en-US" sz="1080" spc="-1" strike="noStrike">
                <a:solidFill>
                  <a:srgbClr val="ffffff"/>
                </a:solidFill>
                <a:latin typeface="Segoe UI"/>
              </a:rPr>
              <a:t>Garson olarak siparis girisi yapar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700"/>
              </a:spcAft>
            </a:pPr>
            <a:r>
              <a:rPr b="1" lang="en-US" sz="1080" spc="-1" strike="noStrike">
                <a:solidFill>
                  <a:srgbClr val="eab308"/>
                </a:solidFill>
                <a:latin typeface="Segoe UI"/>
              </a:rPr>
              <a:t>▸  </a:t>
            </a:r>
            <a:r>
              <a:rPr b="0" lang="en-US" sz="1080" spc="-1" strike="noStrike">
                <a:solidFill>
                  <a:srgbClr val="ffffff"/>
                </a:solidFill>
                <a:latin typeface="Segoe UI"/>
              </a:rPr>
              <a:t>Belirli bir gun veya tarih araligindaki islemleri raporlar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700"/>
              </a:spcAft>
            </a:pPr>
            <a:r>
              <a:rPr b="1" lang="en-US" sz="1080" spc="-1" strike="noStrike">
                <a:solidFill>
                  <a:srgbClr val="eab308"/>
                </a:solidFill>
                <a:latin typeface="Segoe UI"/>
              </a:rPr>
              <a:t>▸  </a:t>
            </a:r>
            <a:r>
              <a:rPr b="0" lang="en-US" sz="1080" spc="-1" strike="noStrike">
                <a:solidFill>
                  <a:srgbClr val="ffffff"/>
                </a:solidFill>
                <a:latin typeface="Segoe UI"/>
              </a:rPr>
              <a:t>Raporu Excel ve PDF olarak alir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700"/>
              </a:spcAft>
            </a:pPr>
            <a:r>
              <a:rPr b="1" lang="en-US" sz="1080" spc="-1" strike="noStrike">
                <a:solidFill>
                  <a:srgbClr val="eab308"/>
                </a:solidFill>
                <a:latin typeface="Segoe UI"/>
              </a:rPr>
              <a:t>▸  </a:t>
            </a:r>
            <a:r>
              <a:rPr b="0" lang="en-US" sz="1080" spc="-1" strike="noStrike">
                <a:solidFill>
                  <a:srgbClr val="ffffff"/>
                </a:solidFill>
                <a:latin typeface="Segoe UI"/>
              </a:rPr>
              <a:t>Garsonlari ve mutfaklari izler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Box 13"/>
          <p:cNvSpPr/>
          <p:nvPr/>
        </p:nvSpPr>
        <p:spPr>
          <a:xfrm>
            <a:off x="8375760" y="4901040"/>
            <a:ext cx="30171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87171"/>
                </a:solidFill>
                <a:latin typeface="Segoe UI"/>
              </a:rPr>
              <a:t>SEF NE YAPAMAZ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Box 14"/>
          <p:cNvSpPr/>
          <p:nvPr/>
        </p:nvSpPr>
        <p:spPr>
          <a:xfrm>
            <a:off x="8375760" y="5157360"/>
            <a:ext cx="30171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050" spc="-1" strike="noStrike">
                <a:solidFill>
                  <a:srgbClr val="9cabc4"/>
                </a:solidFill>
                <a:latin typeface="Segoe UI"/>
              </a:rPr>
              <a:t>Mutfak modulundeki Hazirlaniyor /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</a:pPr>
            <a:r>
              <a:rPr b="0" lang="en-US" sz="1050" spc="-1" strike="noStrike">
                <a:solidFill>
                  <a:srgbClr val="9cabc4"/>
                </a:solidFill>
                <a:latin typeface="Segoe UI"/>
              </a:rPr>
              <a:t>Tamamlandi durumlarini guncelleyemez.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Rounded Rectangle 15"/>
          <p:cNvSpPr/>
          <p:nvPr/>
        </p:nvSpPr>
        <p:spPr>
          <a:xfrm>
            <a:off x="567000" y="5632560"/>
            <a:ext cx="11063880" cy="566640"/>
          </a:xfrm>
          <a:prstGeom prst="roundRect">
            <a:avLst>
              <a:gd name="adj" fmla="val 10000"/>
            </a:avLst>
          </a:prstGeom>
          <a:solidFill>
            <a:srgbClr val="1b2640"/>
          </a:solidFill>
          <a:ln w="12700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TextBox 16"/>
          <p:cNvSpPr/>
          <p:nvPr/>
        </p:nvSpPr>
        <p:spPr>
          <a:xfrm>
            <a:off x="868680" y="5760720"/>
            <a:ext cx="10515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Segoe UI"/>
              </a:rPr>
              <a:t>Bu ayrim bilincli bir tasarim kararidir: mutfak durumu yalnizca mutfak ekibinin sorumlulugundadir; sef izler ve raporlar, degistirmez.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Rectangle 17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3" name="TextBox 18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Box 19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12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6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7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SEF MODULU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Tarih Araligina Gore Raporlama ve PDF / Excel Cikti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Gunluk veya belirli bir tarih araligi secilerek islemler raporlanir ve disari aktarilir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Rounded Rectangle 6"/>
          <p:cNvSpPr/>
          <p:nvPr/>
        </p:nvSpPr>
        <p:spPr>
          <a:xfrm>
            <a:off x="516600" y="1782360"/>
            <a:ext cx="6820920" cy="329256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21" name="Picture 7" descr="t91-sef-rapor.png"/>
          <p:cNvPicPr/>
          <p:nvPr/>
        </p:nvPicPr>
        <p:blipFill>
          <a:blip r:embed="rId1"/>
          <a:stretch/>
        </p:blipFill>
        <p:spPr>
          <a:xfrm>
            <a:off x="567000" y="1832760"/>
            <a:ext cx="6720480" cy="3192120"/>
          </a:xfrm>
          <a:prstGeom prst="rect">
            <a:avLst/>
          </a:prstGeom>
          <a:ln w="0">
            <a:noFill/>
          </a:ln>
        </p:spPr>
      </p:pic>
      <p:sp>
        <p:nvSpPr>
          <p:cNvPr id="422" name="TextBox 8"/>
          <p:cNvSpPr/>
          <p:nvPr/>
        </p:nvSpPr>
        <p:spPr>
          <a:xfrm>
            <a:off x="567000" y="5135040"/>
            <a:ext cx="67204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Rapor ekrani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Box 9"/>
          <p:cNvSpPr/>
          <p:nvPr/>
        </p:nvSpPr>
        <p:spPr>
          <a:xfrm>
            <a:off x="567000" y="5381640"/>
            <a:ext cx="6720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Baslangic - Bitis araligi, Raporu Getir, Excel'e Aktar (.xlsx), Yazdir / PDF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Rounded Rectangle 10"/>
          <p:cNvSpPr/>
          <p:nvPr/>
        </p:nvSpPr>
        <p:spPr>
          <a:xfrm>
            <a:off x="7594200" y="2431800"/>
            <a:ext cx="4087080" cy="199404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25" name="Picture 11" descr="t93-sef-kitchen.png"/>
          <p:cNvPicPr/>
          <p:nvPr/>
        </p:nvPicPr>
        <p:blipFill>
          <a:blip r:embed="rId2"/>
          <a:stretch/>
        </p:blipFill>
        <p:spPr>
          <a:xfrm>
            <a:off x="7644240" y="2482200"/>
            <a:ext cx="3986280" cy="1893240"/>
          </a:xfrm>
          <a:prstGeom prst="rect">
            <a:avLst/>
          </a:prstGeom>
          <a:ln w="0">
            <a:noFill/>
          </a:ln>
        </p:spPr>
      </p:pic>
      <p:sp>
        <p:nvSpPr>
          <p:cNvPr id="426" name="TextBox 12"/>
          <p:cNvSpPr/>
          <p:nvPr/>
        </p:nvSpPr>
        <p:spPr>
          <a:xfrm>
            <a:off x="7644240" y="4485600"/>
            <a:ext cx="39862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Sefin mutfak gorunumu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Box 13"/>
          <p:cNvSpPr/>
          <p:nvPr/>
        </p:nvSpPr>
        <p:spPr>
          <a:xfrm>
            <a:off x="7644240" y="4732560"/>
            <a:ext cx="39862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Ilerleme takip edilir, durum butonlari sunulmaz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Rounded Rectangle 14"/>
          <p:cNvSpPr/>
          <p:nvPr/>
        </p:nvSpPr>
        <p:spPr>
          <a:xfrm>
            <a:off x="567000" y="5394960"/>
            <a:ext cx="11063880" cy="8042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9" name="TextBox 15"/>
          <p:cNvSpPr/>
          <p:nvPr/>
        </p:nvSpPr>
        <p:spPr>
          <a:xfrm>
            <a:off x="868680" y="5523120"/>
            <a:ext cx="105152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RAPORDA KULLANILAN TESLIF YONTEMI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Box 16"/>
          <p:cNvSpPr/>
          <p:nvPr/>
        </p:nvSpPr>
        <p:spPr>
          <a:xfrm>
            <a:off x="868680" y="5779080"/>
            <a:ext cx="1051524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b="0" lang="en-US" sz="1080" spc="-1" strike="noStrike">
                <a:solidFill>
                  <a:srgbClr val="9cabc4"/>
                </a:solidFill>
                <a:latin typeface="Segoe UI"/>
              </a:rPr>
              <a:t>Tarih araligindaki islemler tesisin saat dilimine gore hesaplanir; boylece gece yarisi gecen siparisler yanlis gunde raporlanmaz.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Rectangle 17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TextBox 18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19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13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5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6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SISTEM YONETICISI MODULU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Tanimlama Merkezi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Kullanicilar, A La Carte restoranlar, masalar, menu gruplari, menu ogeleri ve servis notlari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Rounded Rectangle 6"/>
          <p:cNvSpPr/>
          <p:nvPr/>
        </p:nvSpPr>
        <p:spPr>
          <a:xfrm>
            <a:off x="516600" y="1969560"/>
            <a:ext cx="5495040" cy="266292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40" name="Picture 7" descr="t01-admin-restoranlar.png"/>
          <p:cNvPicPr/>
          <p:nvPr/>
        </p:nvPicPr>
        <p:blipFill>
          <a:blip r:embed="rId1"/>
          <a:stretch/>
        </p:blipFill>
        <p:spPr>
          <a:xfrm>
            <a:off x="567000" y="2019600"/>
            <a:ext cx="5394600" cy="2562120"/>
          </a:xfrm>
          <a:prstGeom prst="rect">
            <a:avLst/>
          </a:prstGeom>
          <a:ln w="0">
            <a:noFill/>
          </a:ln>
        </p:spPr>
      </p:pic>
      <p:sp>
        <p:nvSpPr>
          <p:cNvPr id="441" name="TextBox 8"/>
          <p:cNvSpPr/>
          <p:nvPr/>
        </p:nvSpPr>
        <p:spPr>
          <a:xfrm>
            <a:off x="567000" y="4691880"/>
            <a:ext cx="53946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A La Carte Restoran Tanimlari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Box 9"/>
          <p:cNvSpPr/>
          <p:nvPr/>
        </p:nvSpPr>
        <p:spPr>
          <a:xfrm>
            <a:off x="567000" y="4938840"/>
            <a:ext cx="53946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The Roof Garden, The Steak House, Blue Sea, Mandarin, Bella Merit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Rounded Rectangle 10"/>
          <p:cNvSpPr/>
          <p:nvPr/>
        </p:nvSpPr>
        <p:spPr>
          <a:xfrm>
            <a:off x="6195240" y="1969560"/>
            <a:ext cx="5495040" cy="266292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44" name="Picture 11" descr="t02-admin-menu.png"/>
          <p:cNvPicPr/>
          <p:nvPr/>
        </p:nvPicPr>
        <p:blipFill>
          <a:blip r:embed="rId2"/>
          <a:stretch/>
        </p:blipFill>
        <p:spPr>
          <a:xfrm>
            <a:off x="6245280" y="2019600"/>
            <a:ext cx="5394600" cy="2562120"/>
          </a:xfrm>
          <a:prstGeom prst="rect">
            <a:avLst/>
          </a:prstGeom>
          <a:ln w="0">
            <a:noFill/>
          </a:ln>
        </p:spPr>
      </p:pic>
      <p:sp>
        <p:nvSpPr>
          <p:cNvPr id="445" name="TextBox 12"/>
          <p:cNvSpPr/>
          <p:nvPr/>
        </p:nvSpPr>
        <p:spPr>
          <a:xfrm>
            <a:off x="6245280" y="4691880"/>
            <a:ext cx="53946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Menu Yonetimi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Box 13"/>
          <p:cNvSpPr/>
          <p:nvPr/>
        </p:nvSpPr>
        <p:spPr>
          <a:xfrm>
            <a:off x="6245280" y="4938840"/>
            <a:ext cx="53946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lang="en-US" sz="1000" spc="-1" strike="noStrike">
                <a:solidFill>
                  <a:srgbClr val="9cabc4"/>
                </a:solidFill>
                <a:latin typeface="Segoe UI"/>
              </a:rPr>
              <a:t>Menu gruplari, menu ogeleri ve yemege ozel servis notlari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Rounded Rectangle 14"/>
          <p:cNvSpPr/>
          <p:nvPr/>
        </p:nvSpPr>
        <p:spPr>
          <a:xfrm>
            <a:off x="567000" y="5230440"/>
            <a:ext cx="11063880" cy="96876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60a5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8" name="TextBox 15"/>
          <p:cNvSpPr/>
          <p:nvPr/>
        </p:nvSpPr>
        <p:spPr>
          <a:xfrm>
            <a:off x="868680" y="5358240"/>
            <a:ext cx="1051524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8000"/>
              </a:lnSpc>
              <a:spcAft>
                <a:spcPts val="400"/>
              </a:spcAft>
            </a:pPr>
            <a:r>
              <a:rPr b="1" lang="en-US" sz="1080" spc="-1" strike="noStrike">
                <a:solidFill>
                  <a:srgbClr val="60a5fa"/>
                </a:solidFill>
                <a:latin typeface="Segoe UI"/>
              </a:rPr>
              <a:t>▸  </a:t>
            </a:r>
            <a:r>
              <a:rPr b="0" lang="en-US" sz="1080" spc="-1" strike="noStrike">
                <a:solidFill>
                  <a:srgbClr val="ffffff"/>
                </a:solidFill>
                <a:latin typeface="Segoe UI"/>
              </a:rPr>
              <a:t>Bu tarz isleyis ve raporlama ekranlari sistem yoneticisi ekraninda bulunmaz; raporlama yalnizca sef panelindedir.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400"/>
              </a:spcAft>
            </a:pPr>
            <a:r>
              <a:rPr b="1" lang="en-US" sz="1080" spc="-1" strike="noStrike">
                <a:solidFill>
                  <a:srgbClr val="60a5fa"/>
                </a:solidFill>
                <a:latin typeface="Segoe UI"/>
              </a:rPr>
              <a:t>▸  </a:t>
            </a:r>
            <a:r>
              <a:rPr b="0" lang="en-US" sz="1080" spc="-1" strike="noStrike">
                <a:solidFill>
                  <a:srgbClr val="ffffff"/>
                </a:solidFill>
                <a:latin typeface="Segoe UI"/>
              </a:rPr>
              <a:t>Her A La Carte icin mutfak kullanici hesabi sistem yoneticisi tarafindan ayrica olusturulur ve o alakarta otomatik kilitlenir.</a:t>
            </a:r>
            <a:endParaRPr b="0" lang="tr-T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Rectangle 16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0" name="TextBox 17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Box 18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14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3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4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KULLANIM KOLAYLIGI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Her Cihazda, Internetten veya Yerel Agdan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Uygulama kurulum gerektirmez; tarayici acilan her cihazda ayni arayuz ve ayni veri calisir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Rounded Rectangle 6"/>
          <p:cNvSpPr/>
          <p:nvPr/>
        </p:nvSpPr>
        <p:spPr>
          <a:xfrm>
            <a:off x="567000" y="1737360"/>
            <a:ext cx="5394600" cy="21027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8" name="TextBox 7"/>
          <p:cNvSpPr/>
          <p:nvPr/>
        </p:nvSpPr>
        <p:spPr>
          <a:xfrm>
            <a:off x="822960" y="1901880"/>
            <a:ext cx="49374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ab308"/>
                </a:solidFill>
                <a:latin typeface="Segoe UI"/>
              </a:rPr>
              <a:t>KULLANILAN CIHAZLAR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Rectangle 8"/>
          <p:cNvSpPr/>
          <p:nvPr/>
        </p:nvSpPr>
        <p:spPr>
          <a:xfrm>
            <a:off x="822960" y="2212920"/>
            <a:ext cx="45360" cy="456840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0" name="TextBox 9"/>
          <p:cNvSpPr/>
          <p:nvPr/>
        </p:nvSpPr>
        <p:spPr>
          <a:xfrm>
            <a:off x="1024200" y="2212920"/>
            <a:ext cx="14169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Segoe UI"/>
              </a:rPr>
              <a:t>Masaustu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Box 10"/>
          <p:cNvSpPr/>
          <p:nvPr/>
        </p:nvSpPr>
        <p:spPr>
          <a:xfrm>
            <a:off x="2487240" y="221292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980" spc="-1" strike="noStrike">
                <a:solidFill>
                  <a:srgbClr val="9cabc4"/>
                </a:solidFill>
                <a:latin typeface="Segoe UI"/>
              </a:rPr>
              <a:t>Personel ve yonetim icin tam ekran; klavye kisa yollari ile hizli giris.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Rectangle 11"/>
          <p:cNvSpPr/>
          <p:nvPr/>
        </p:nvSpPr>
        <p:spPr>
          <a:xfrm>
            <a:off x="822960" y="2743200"/>
            <a:ext cx="45360" cy="456840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TextBox 12"/>
          <p:cNvSpPr/>
          <p:nvPr/>
        </p:nvSpPr>
        <p:spPr>
          <a:xfrm>
            <a:off x="1024200" y="2743200"/>
            <a:ext cx="14169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Segoe UI"/>
              </a:rPr>
              <a:t>Tablet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Box 13"/>
          <p:cNvSpPr/>
          <p:nvPr/>
        </p:nvSpPr>
        <p:spPr>
          <a:xfrm>
            <a:off x="2487240" y="274320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980" spc="-1" strike="noStrike">
                <a:solidFill>
                  <a:srgbClr val="9cabc4"/>
                </a:solidFill>
                <a:latin typeface="Segoe UI"/>
              </a:rPr>
              <a:t>Garson salonoda, mutfakta tablet uzerinde; dokunmatik butonlar buyuk ve okunakli.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Rectangle 14"/>
          <p:cNvSpPr/>
          <p:nvPr/>
        </p:nvSpPr>
        <p:spPr>
          <a:xfrm>
            <a:off x="822960" y="3273480"/>
            <a:ext cx="45360" cy="456840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6" name="TextBox 15"/>
          <p:cNvSpPr/>
          <p:nvPr/>
        </p:nvSpPr>
        <p:spPr>
          <a:xfrm>
            <a:off x="1024200" y="3273480"/>
            <a:ext cx="14169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Segoe UI"/>
              </a:rPr>
              <a:t>Mobil telefon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Box 16"/>
          <p:cNvSpPr/>
          <p:nvPr/>
        </p:nvSpPr>
        <p:spPr>
          <a:xfrm>
            <a:off x="2487240" y="327348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980" spc="-1" strike="noStrike">
                <a:solidFill>
                  <a:srgbClr val="9cabc4"/>
                </a:solidFill>
                <a:latin typeface="Segoe UI"/>
              </a:rPr>
              <a:t>Garson masadan masaya gecerken siparis alir, durum sorgular, iptal eder.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Rounded Rectangle 17"/>
          <p:cNvSpPr/>
          <p:nvPr/>
        </p:nvSpPr>
        <p:spPr>
          <a:xfrm>
            <a:off x="6236280" y="1737360"/>
            <a:ext cx="5394600" cy="21027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9" name="TextBox 18"/>
          <p:cNvSpPr/>
          <p:nvPr/>
        </p:nvSpPr>
        <p:spPr>
          <a:xfrm>
            <a:off x="6492240" y="1901880"/>
            <a:ext cx="49374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ab308"/>
                </a:solidFill>
                <a:latin typeface="Segoe UI"/>
              </a:rPr>
              <a:t>CALISMA SEKLI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Rectangle 19"/>
          <p:cNvSpPr/>
          <p:nvPr/>
        </p:nvSpPr>
        <p:spPr>
          <a:xfrm>
            <a:off x="6492240" y="2212920"/>
            <a:ext cx="45360" cy="56664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1" name="TextBox 20"/>
          <p:cNvSpPr/>
          <p:nvPr/>
        </p:nvSpPr>
        <p:spPr>
          <a:xfrm>
            <a:off x="6693480" y="2212920"/>
            <a:ext cx="47545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4d399"/>
                </a:solidFill>
                <a:latin typeface="Segoe UI"/>
              </a:rPr>
              <a:t>Internet (uzak sunucu)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Box 21"/>
          <p:cNvSpPr/>
          <p:nvPr/>
        </p:nvSpPr>
        <p:spPr>
          <a:xfrm>
            <a:off x="6693480" y="2450520"/>
            <a:ext cx="4754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980" spc="-1" strike="noStrike">
                <a:solidFill>
                  <a:srgbClr val="9cabc4"/>
                </a:solidFill>
                <a:latin typeface="Segoe UI"/>
              </a:rPr>
              <a:t>Cihazlar farkli lokasyonlardan baglanir; misafir odalarindan ve mobilden erisim mumkundur.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Rectangle 22"/>
          <p:cNvSpPr/>
          <p:nvPr/>
        </p:nvSpPr>
        <p:spPr>
          <a:xfrm>
            <a:off x="6492240" y="2926080"/>
            <a:ext cx="45360" cy="566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4" name="TextBox 23"/>
          <p:cNvSpPr/>
          <p:nvPr/>
        </p:nvSpPr>
        <p:spPr>
          <a:xfrm>
            <a:off x="6693480" y="2926080"/>
            <a:ext cx="47545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Segoe UI"/>
              </a:rPr>
              <a:t>Yerel ag / LAN (on yerinde)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Box 24"/>
          <p:cNvSpPr/>
          <p:nvPr/>
        </p:nvSpPr>
        <p:spPr>
          <a:xfrm>
            <a:off x="6693480" y="3163680"/>
            <a:ext cx="4754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980" spc="-1" strike="noStrike">
                <a:solidFill>
                  <a:srgbClr val="9cabc4"/>
                </a:solidFill>
                <a:latin typeface="Segoe UI"/>
              </a:rPr>
              <a:t>Sunucu tesiste kurulur; tum cihazlar ayni kablosuz aga baglanir. Internet kesintisi is akisini durdurmaz.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Rounded Rectangle 25"/>
          <p:cNvSpPr/>
          <p:nvPr/>
        </p:nvSpPr>
        <p:spPr>
          <a:xfrm>
            <a:off x="567000" y="4041720"/>
            <a:ext cx="2669760" cy="12430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7" name="TextBox 26"/>
          <p:cNvSpPr/>
          <p:nvPr/>
        </p:nvSpPr>
        <p:spPr>
          <a:xfrm>
            <a:off x="768240" y="4187880"/>
            <a:ext cx="22672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ab308"/>
                </a:solidFill>
                <a:latin typeface="Segoe UI"/>
              </a:rPr>
              <a:t>Kurulum yok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Box 27"/>
          <p:cNvSpPr/>
          <p:nvPr/>
        </p:nvSpPr>
        <p:spPr>
          <a:xfrm>
            <a:off x="768240" y="4480560"/>
            <a:ext cx="22672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b="0" lang="en-US" sz="960" spc="-1" strike="noStrike">
                <a:solidFill>
                  <a:srgbClr val="9cabc4"/>
                </a:solidFill>
                <a:latin typeface="Segoe UI"/>
              </a:rPr>
              <a:t>Uygulama guncellemesi tek noktadan yapilir; her cihaza kurulum yapilmaz.</a:t>
            </a:r>
            <a:endParaRPr b="0" lang="tr-T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Rounded Rectangle 28"/>
          <p:cNvSpPr/>
          <p:nvPr/>
        </p:nvSpPr>
        <p:spPr>
          <a:xfrm>
            <a:off x="3401640" y="4041720"/>
            <a:ext cx="2669760" cy="12430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0" name="TextBox 29"/>
          <p:cNvSpPr/>
          <p:nvPr/>
        </p:nvSpPr>
        <p:spPr>
          <a:xfrm>
            <a:off x="3602880" y="4187880"/>
            <a:ext cx="22672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ab308"/>
                </a:solidFill>
                <a:latin typeface="Segoe UI"/>
              </a:rPr>
              <a:t>Tek veri tabani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Box 30"/>
          <p:cNvSpPr/>
          <p:nvPr/>
        </p:nvSpPr>
        <p:spPr>
          <a:xfrm>
            <a:off x="3602880" y="4480560"/>
            <a:ext cx="22672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b="0" lang="en-US" sz="960" spc="-1" strike="noStrike">
                <a:solidFill>
                  <a:srgbClr val="9cabc4"/>
                </a:solidFill>
                <a:latin typeface="Segoe UI"/>
              </a:rPr>
              <a:t>Garson, mutfak, sef ve yonetici ayni veriyi ayni anda gorur.</a:t>
            </a:r>
            <a:endParaRPr b="0" lang="tr-T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Rounded Rectangle 31"/>
          <p:cNvSpPr/>
          <p:nvPr/>
        </p:nvSpPr>
        <p:spPr>
          <a:xfrm>
            <a:off x="6236280" y="4041720"/>
            <a:ext cx="2669760" cy="12430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3" name="TextBox 32"/>
          <p:cNvSpPr/>
          <p:nvPr/>
        </p:nvSpPr>
        <p:spPr>
          <a:xfrm>
            <a:off x="6437520" y="4187880"/>
            <a:ext cx="22672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ab308"/>
                </a:solidFill>
                <a:latin typeface="Segoe UI"/>
              </a:rPr>
              <a:t>Dokunmatik uyumlu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Box 33"/>
          <p:cNvSpPr/>
          <p:nvPr/>
        </p:nvSpPr>
        <p:spPr>
          <a:xfrm>
            <a:off x="6437520" y="4480560"/>
            <a:ext cx="22672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b="0" lang="en-US" sz="960" spc="-1" strike="noStrike">
                <a:solidFill>
                  <a:srgbClr val="9cabc4"/>
                </a:solidFill>
                <a:latin typeface="Segoe UI"/>
              </a:rPr>
              <a:t>Butonlar, tablolar ve pencereler telefon ve tablet ekranina gore duzenlenir.</a:t>
            </a:r>
            <a:endParaRPr b="0" lang="tr-T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Rounded Rectangle 34"/>
          <p:cNvSpPr/>
          <p:nvPr/>
        </p:nvSpPr>
        <p:spPr>
          <a:xfrm>
            <a:off x="9070920" y="4041720"/>
            <a:ext cx="2669760" cy="12430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6" name="TextBox 35"/>
          <p:cNvSpPr/>
          <p:nvPr/>
        </p:nvSpPr>
        <p:spPr>
          <a:xfrm>
            <a:off x="9272160" y="4187880"/>
            <a:ext cx="22672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ab308"/>
                </a:solidFill>
                <a:latin typeface="Segoe UI"/>
              </a:rPr>
              <a:t>Cevrimdisi dayaniklilik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36"/>
          <p:cNvSpPr/>
          <p:nvPr/>
        </p:nvSpPr>
        <p:spPr>
          <a:xfrm>
            <a:off x="9272160" y="4480560"/>
            <a:ext cx="22672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b="0" lang="en-US" sz="960" spc="-1" strike="noStrike">
                <a:solidFill>
                  <a:srgbClr val="9cabc4"/>
                </a:solidFill>
                <a:latin typeface="Segoe UI"/>
              </a:rPr>
              <a:t>Yerel agda calistiginda internet olmadan da servis aksisi surer.</a:t>
            </a:r>
            <a:endParaRPr b="0" lang="tr-T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Rounded Rectangle 37"/>
          <p:cNvSpPr/>
          <p:nvPr/>
        </p:nvSpPr>
        <p:spPr>
          <a:xfrm>
            <a:off x="567000" y="5486400"/>
            <a:ext cx="11063880" cy="712800"/>
          </a:xfrm>
          <a:prstGeom prst="roundRect">
            <a:avLst>
              <a:gd name="adj" fmla="val 7000"/>
            </a:avLst>
          </a:prstGeom>
          <a:solidFill>
            <a:srgbClr val="141d33"/>
          </a:solidFill>
          <a:ln w="12700">
            <a:solidFill>
              <a:srgbClr val="34d3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9" name="TextBox 38"/>
          <p:cNvSpPr/>
          <p:nvPr/>
        </p:nvSpPr>
        <p:spPr>
          <a:xfrm>
            <a:off x="868680" y="5614560"/>
            <a:ext cx="105152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6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Segoe UI"/>
              </a:rPr>
              <a:t>Sonuc: Servis ekibi cihaz degistirmek zorunda kalmaz; elindeki telefon, tablet veya bilgisayar ne olursa olsun siparis ve mutfak akisi ayni sekilde calisir.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Rectangle 39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1" name="TextBox 40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Box 41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15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4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5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FAYDA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Cozulen Sorunlar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Geleneksel yontemde gorulen her sorun ALACARTE icin acik bir kural ve bir ekran ile kapatildi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Rounded Rectangle 6"/>
          <p:cNvSpPr/>
          <p:nvPr/>
        </p:nvSpPr>
        <p:spPr>
          <a:xfrm>
            <a:off x="567000" y="1737360"/>
            <a:ext cx="5467680" cy="868320"/>
          </a:xfrm>
          <a:prstGeom prst="roundRect">
            <a:avLst>
              <a:gd name="adj" fmla="val 7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9" name="Rectangle 7"/>
          <p:cNvSpPr/>
          <p:nvPr/>
        </p:nvSpPr>
        <p:spPr>
          <a:xfrm>
            <a:off x="567000" y="1737360"/>
            <a:ext cx="45360" cy="86832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0" name="TextBox 8"/>
          <p:cNvSpPr/>
          <p:nvPr/>
        </p:nvSpPr>
        <p:spPr>
          <a:xfrm>
            <a:off x="786240" y="1865520"/>
            <a:ext cx="5028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Kaybolan / karisan siparis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9"/>
          <p:cNvSpPr/>
          <p:nvPr/>
        </p:nvSpPr>
        <p:spPr>
          <a:xfrm>
            <a:off x="786240" y="2139840"/>
            <a:ext cx="50288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b="0" lang="en-US" sz="980" spc="-1" strike="noStrike">
                <a:solidFill>
                  <a:srgbClr val="9cabc4"/>
                </a:solidFill>
                <a:latin typeface="Segoe UI"/>
              </a:rPr>
              <a:t>Siparis girildigi anda mutfak ekraninda otomatik belirir; kaybolma mumkun degildir.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Rounded Rectangle 10"/>
          <p:cNvSpPr/>
          <p:nvPr/>
        </p:nvSpPr>
        <p:spPr>
          <a:xfrm>
            <a:off x="6163200" y="1737360"/>
            <a:ext cx="5467680" cy="868320"/>
          </a:xfrm>
          <a:prstGeom prst="roundRect">
            <a:avLst>
              <a:gd name="adj" fmla="val 7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3" name="Rectangle 11"/>
          <p:cNvSpPr/>
          <p:nvPr/>
        </p:nvSpPr>
        <p:spPr>
          <a:xfrm>
            <a:off x="6163200" y="1737360"/>
            <a:ext cx="45360" cy="86832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4" name="TextBox 12"/>
          <p:cNvSpPr/>
          <p:nvPr/>
        </p:nvSpPr>
        <p:spPr>
          <a:xfrm>
            <a:off x="6382440" y="1865520"/>
            <a:ext cx="5028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Garson - mutfak yanlis anlasilmasi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Box 13"/>
          <p:cNvSpPr/>
          <p:nvPr/>
        </p:nvSpPr>
        <p:spPr>
          <a:xfrm>
            <a:off x="6382440" y="2139840"/>
            <a:ext cx="502884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b="0" lang="en-US" sz="980" spc="-1" strike="noStrike">
                <a:solidFill>
                  <a:srgbClr val="9cabc4"/>
                </a:solidFill>
                <a:latin typeface="Segoe UI"/>
              </a:rPr>
              <a:t>Yemege ozel servis notlari standart secenek olarak sunulur; ayni ifade herkes icin ayni anlama gelir.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Rounded Rectangle 14"/>
          <p:cNvSpPr/>
          <p:nvPr/>
        </p:nvSpPr>
        <p:spPr>
          <a:xfrm>
            <a:off x="567000" y="2724840"/>
            <a:ext cx="5467680" cy="868320"/>
          </a:xfrm>
          <a:prstGeom prst="roundRect">
            <a:avLst>
              <a:gd name="adj" fmla="val 7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7" name="Rectangle 15"/>
          <p:cNvSpPr/>
          <p:nvPr/>
        </p:nvSpPr>
        <p:spPr>
          <a:xfrm>
            <a:off x="567000" y="2724840"/>
            <a:ext cx="45360" cy="86832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8" name="TextBox 16"/>
          <p:cNvSpPr/>
          <p:nvPr/>
        </p:nvSpPr>
        <p:spPr>
          <a:xfrm>
            <a:off x="786240" y="2853000"/>
            <a:ext cx="5028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Iptalin mutfaga ulasmamasi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Box 17"/>
          <p:cNvSpPr/>
          <p:nvPr/>
        </p:nvSpPr>
        <p:spPr>
          <a:xfrm>
            <a:off x="786240" y="3127320"/>
            <a:ext cx="502884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b="0" lang="en-US" sz="980" spc="-1" strike="noStrike">
                <a:solidFill>
                  <a:srgbClr val="9cabc4"/>
                </a:solidFill>
                <a:latin typeface="Segoe UI"/>
              </a:rPr>
              <a:t>Iptal onayinda mutfaga bildirilsin mi sorulur; evet denirse iptal mutfagin Iptal Edilenler sekmesine duser ve fis cikar.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Rounded Rectangle 18"/>
          <p:cNvSpPr/>
          <p:nvPr/>
        </p:nvSpPr>
        <p:spPr>
          <a:xfrm>
            <a:off x="6163200" y="2724840"/>
            <a:ext cx="5467680" cy="868320"/>
          </a:xfrm>
          <a:prstGeom prst="roundRect">
            <a:avLst>
              <a:gd name="adj" fmla="val 7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1" name="Rectangle 19"/>
          <p:cNvSpPr/>
          <p:nvPr/>
        </p:nvSpPr>
        <p:spPr>
          <a:xfrm>
            <a:off x="6163200" y="2724840"/>
            <a:ext cx="45360" cy="86832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2" name="TextBox 20"/>
          <p:cNvSpPr/>
          <p:nvPr/>
        </p:nvSpPr>
        <p:spPr>
          <a:xfrm>
            <a:off x="6382440" y="2853000"/>
            <a:ext cx="5028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Hazirlanan gidanin israfi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Box 21"/>
          <p:cNvSpPr/>
          <p:nvPr/>
        </p:nvSpPr>
        <p:spPr>
          <a:xfrm>
            <a:off x="6382440" y="3127320"/>
            <a:ext cx="50288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b="0" lang="en-US" sz="980" spc="-1" strike="noStrike">
                <a:solidFill>
                  <a:srgbClr val="9cabc4"/>
                </a:solidFill>
                <a:latin typeface="Segoe UI"/>
              </a:rPr>
              <a:t>Iptal edilen siparis HAZIRLAMAYIN uyarisiyla ayrilir; bosta hazirlanan urun olusmaz.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Rounded Rectangle 22"/>
          <p:cNvSpPr/>
          <p:nvPr/>
        </p:nvSpPr>
        <p:spPr>
          <a:xfrm>
            <a:off x="567000" y="3712320"/>
            <a:ext cx="5467680" cy="868320"/>
          </a:xfrm>
          <a:prstGeom prst="roundRect">
            <a:avLst>
              <a:gd name="adj" fmla="val 7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5" name="Rectangle 23"/>
          <p:cNvSpPr/>
          <p:nvPr/>
        </p:nvSpPr>
        <p:spPr>
          <a:xfrm>
            <a:off x="567000" y="3712320"/>
            <a:ext cx="45360" cy="86832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6" name="TextBox 24"/>
          <p:cNvSpPr/>
          <p:nvPr/>
        </p:nvSpPr>
        <p:spPr>
          <a:xfrm>
            <a:off x="786240" y="3840480"/>
            <a:ext cx="5028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Siparisin hangi asamada oldugunun bilinmemesi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Box 25"/>
          <p:cNvSpPr/>
          <p:nvPr/>
        </p:nvSpPr>
        <p:spPr>
          <a:xfrm>
            <a:off x="786240" y="4114800"/>
            <a:ext cx="502884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b="0" lang="en-US" sz="980" spc="-1" strike="noStrike">
                <a:solidFill>
                  <a:srgbClr val="9cabc4"/>
                </a:solidFill>
                <a:latin typeface="Segoe UI"/>
              </a:rPr>
              <a:t>Garson Siparislerim sekmesinde Bekliyor, Hazirlaniyor, Tamamlandi ve Iptal durumlarini tek bakista gorur.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Rounded Rectangle 26"/>
          <p:cNvSpPr/>
          <p:nvPr/>
        </p:nvSpPr>
        <p:spPr>
          <a:xfrm>
            <a:off x="6163200" y="3712320"/>
            <a:ext cx="5467680" cy="868320"/>
          </a:xfrm>
          <a:prstGeom prst="roundRect">
            <a:avLst>
              <a:gd name="adj" fmla="val 7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9" name="Rectangle 27"/>
          <p:cNvSpPr/>
          <p:nvPr/>
        </p:nvSpPr>
        <p:spPr>
          <a:xfrm>
            <a:off x="6163200" y="3712320"/>
            <a:ext cx="45360" cy="86832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0" name="TextBox 28"/>
          <p:cNvSpPr/>
          <p:nvPr/>
        </p:nvSpPr>
        <p:spPr>
          <a:xfrm>
            <a:off x="6382440" y="3840480"/>
            <a:ext cx="5028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Bekleyenler ve revizyonlarin kaybolmasi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Box 29"/>
          <p:cNvSpPr/>
          <p:nvPr/>
        </p:nvSpPr>
        <p:spPr>
          <a:xfrm>
            <a:off x="6382440" y="4114800"/>
            <a:ext cx="502884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b="0" lang="en-US" sz="980" spc="-1" strike="noStrike">
                <a:solidFill>
                  <a:srgbClr val="9cabc4"/>
                </a:solidFill>
                <a:latin typeface="Segoe UI"/>
              </a:rPr>
              <a:t>Mutfakta Bekleyenler ve Guncellenenler (Revizyon) ayri filtre sekmeleriyle oncelikli olarak one cikar.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Rounded Rectangle 30"/>
          <p:cNvSpPr/>
          <p:nvPr/>
        </p:nvSpPr>
        <p:spPr>
          <a:xfrm>
            <a:off x="567000" y="4700160"/>
            <a:ext cx="5467680" cy="868320"/>
          </a:xfrm>
          <a:prstGeom prst="roundRect">
            <a:avLst>
              <a:gd name="adj" fmla="val 7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3" name="Rectangle 31"/>
          <p:cNvSpPr/>
          <p:nvPr/>
        </p:nvSpPr>
        <p:spPr>
          <a:xfrm>
            <a:off x="567000" y="4700160"/>
            <a:ext cx="45360" cy="86832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4" name="TextBox 32"/>
          <p:cNvSpPr/>
          <p:nvPr/>
        </p:nvSpPr>
        <p:spPr>
          <a:xfrm>
            <a:off x="786240" y="4827960"/>
            <a:ext cx="5028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Islem kaydi tutulmamasi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Box 33"/>
          <p:cNvSpPr/>
          <p:nvPr/>
        </p:nvSpPr>
        <p:spPr>
          <a:xfrm>
            <a:off x="786240" y="5102280"/>
            <a:ext cx="50288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b="0" lang="en-US" sz="980" spc="-1" strike="noStrike">
                <a:solidFill>
                  <a:srgbClr val="9cabc4"/>
                </a:solidFill>
                <a:latin typeface="Segoe UI"/>
              </a:rPr>
              <a:t>Kullanic, tarih, saat, alakart, masa ve urun bilgisiyle her islem kayit altindadir.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Rounded Rectangle 34"/>
          <p:cNvSpPr/>
          <p:nvPr/>
        </p:nvSpPr>
        <p:spPr>
          <a:xfrm>
            <a:off x="6163200" y="4700160"/>
            <a:ext cx="5467680" cy="868320"/>
          </a:xfrm>
          <a:prstGeom prst="roundRect">
            <a:avLst>
              <a:gd name="adj" fmla="val 7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7" name="Rectangle 35"/>
          <p:cNvSpPr/>
          <p:nvPr/>
        </p:nvSpPr>
        <p:spPr>
          <a:xfrm>
            <a:off x="6163200" y="4700160"/>
            <a:ext cx="45360" cy="86832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8" name="TextBox 36"/>
          <p:cNvSpPr/>
          <p:nvPr/>
        </p:nvSpPr>
        <p:spPr>
          <a:xfrm>
            <a:off x="6382440" y="4827960"/>
            <a:ext cx="5028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eab308"/>
                </a:solidFill>
                <a:latin typeface="Segoe UI"/>
              </a:rPr>
              <a:t>Rapor alinamamasi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Box 37"/>
          <p:cNvSpPr/>
          <p:nvPr/>
        </p:nvSpPr>
        <p:spPr>
          <a:xfrm>
            <a:off x="6382440" y="5102280"/>
            <a:ext cx="50288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b="0" lang="en-US" sz="980" spc="-1" strike="noStrike">
                <a:solidFill>
                  <a:srgbClr val="9cabc4"/>
                </a:solidFill>
                <a:latin typeface="Segoe UI"/>
              </a:rPr>
              <a:t>Sef panelinden gunluk veya tarih araliginda rapor alinir; Excel ve PDF olarak disari aktarilir.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Rectangle 38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1" name="TextBox 39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Box 40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16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4" name="Rectangle 2"/>
          <p:cNvSpPr/>
          <p:nvPr/>
        </p:nvSpPr>
        <p:spPr>
          <a:xfrm>
            <a:off x="567000" y="475560"/>
            <a:ext cx="68400" cy="56664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5" name="TextBox 3"/>
          <p:cNvSpPr/>
          <p:nvPr/>
        </p:nvSpPr>
        <p:spPr>
          <a:xfrm>
            <a:off x="777240" y="4572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ISLETME KAZANCI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Box 4"/>
          <p:cNvSpPr/>
          <p:nvPr/>
        </p:nvSpPr>
        <p:spPr>
          <a:xfrm>
            <a:off x="777240" y="67680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Tesise Saglayacagi Artilar ve Getiriler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Box 5"/>
          <p:cNvSpPr/>
          <p:nvPr/>
        </p:nvSpPr>
        <p:spPr>
          <a:xfrm>
            <a:off x="777240" y="1152000"/>
            <a:ext cx="10606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9cabc4"/>
                </a:solidFill>
                <a:latin typeface="Segoe UI"/>
              </a:rPr>
              <a:t>Hizmet kalitesinden operasyonel verimlilige, gelir artislarinden denetim disiplinine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Rounded Rectangle 6"/>
          <p:cNvSpPr/>
          <p:nvPr/>
        </p:nvSpPr>
        <p:spPr>
          <a:xfrm>
            <a:off x="567000" y="1737360"/>
            <a:ext cx="5467680" cy="208440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9" name="Rectangle 7"/>
          <p:cNvSpPr/>
          <p:nvPr/>
        </p:nvSpPr>
        <p:spPr>
          <a:xfrm>
            <a:off x="567000" y="1737360"/>
            <a:ext cx="5467680" cy="4536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0" name="TextBox 8"/>
          <p:cNvSpPr/>
          <p:nvPr/>
        </p:nvSpPr>
        <p:spPr>
          <a:xfrm>
            <a:off x="804600" y="1920240"/>
            <a:ext cx="50104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34d399"/>
                </a:solidFill>
                <a:latin typeface="Segoe UI"/>
              </a:rPr>
              <a:t>Hizmet Kalitesi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Box 9"/>
          <p:cNvSpPr/>
          <p:nvPr/>
        </p:nvSpPr>
        <p:spPr>
          <a:xfrm>
            <a:off x="804600" y="2267640"/>
            <a:ext cx="5010480" cy="8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34d399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Misafir siparisinin durumu aninda bilinir, dogru ve zamaninda bilgi verilir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34d399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Uzun bekleme ve tekrarlanan sorular azalir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34d399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Siparis notlari standartlastigi icin yanlis anlasilma biter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34d399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Garson, misafire yapisal bir guven verir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Rounded Rectangle 10"/>
          <p:cNvSpPr/>
          <p:nvPr/>
        </p:nvSpPr>
        <p:spPr>
          <a:xfrm>
            <a:off x="6163200" y="1737360"/>
            <a:ext cx="5467680" cy="208440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3" name="Rectangle 11"/>
          <p:cNvSpPr/>
          <p:nvPr/>
        </p:nvSpPr>
        <p:spPr>
          <a:xfrm>
            <a:off x="6163200" y="1737360"/>
            <a:ext cx="5467680" cy="4536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4" name="TextBox 12"/>
          <p:cNvSpPr/>
          <p:nvPr/>
        </p:nvSpPr>
        <p:spPr>
          <a:xfrm>
            <a:off x="6400800" y="1920240"/>
            <a:ext cx="50104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ab308"/>
                </a:solidFill>
                <a:latin typeface="Segoe UI"/>
              </a:rPr>
              <a:t>Mutfak Verimliligi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Box 13"/>
          <p:cNvSpPr/>
          <p:nvPr/>
        </p:nvSpPr>
        <p:spPr>
          <a:xfrm>
            <a:off x="6400800" y="2267640"/>
            <a:ext cx="5010480" cy="8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eab308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Siparisler aninda olcakagi icin ocakta bekleme suresi kisalir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eab308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Iptal edilen siparisler hazirlanmaz; gida ve emek tasarrufu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eab308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Ocakak onceliklendirmesi netlestigi icin is akisi duzenli olur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eab308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Mutfak hangi kalemin hangi asamada oldugunu aninda bilir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Rounded Rectangle 14"/>
          <p:cNvSpPr/>
          <p:nvPr/>
        </p:nvSpPr>
        <p:spPr>
          <a:xfrm>
            <a:off x="567000" y="3968640"/>
            <a:ext cx="5467680" cy="208440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7" name="Rectangle 15"/>
          <p:cNvSpPr/>
          <p:nvPr/>
        </p:nvSpPr>
        <p:spPr>
          <a:xfrm>
            <a:off x="567000" y="3968640"/>
            <a:ext cx="5467680" cy="453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8" name="TextBox 16"/>
          <p:cNvSpPr/>
          <p:nvPr/>
        </p:nvSpPr>
        <p:spPr>
          <a:xfrm>
            <a:off x="804600" y="4151520"/>
            <a:ext cx="50104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60a5fa"/>
                </a:solidFill>
                <a:latin typeface="Segoe UI"/>
              </a:rPr>
              <a:t>Gelir ve satis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Box 17"/>
          <p:cNvSpPr/>
          <p:nvPr/>
        </p:nvSpPr>
        <p:spPr>
          <a:xfrm>
            <a:off x="804600" y="4498920"/>
            <a:ext cx="5010480" cy="8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60a5fa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Hizli ve dogru servis, misafir memnuniyeti ve tekrar ziyaret olusturur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60a5fa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Bosta hazirlanan urun azalir, cironun korunmasi saglanir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60a5fa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Yoğun saatlerde kapasite artisi karsilayabilir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60a5fa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Menu performansi veriye dayali olarak degerlendirilir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Rounded Rectangle 18"/>
          <p:cNvSpPr/>
          <p:nvPr/>
        </p:nvSpPr>
        <p:spPr>
          <a:xfrm>
            <a:off x="6163200" y="3968640"/>
            <a:ext cx="5467680" cy="208440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1" name="Rectangle 19"/>
          <p:cNvSpPr/>
          <p:nvPr/>
        </p:nvSpPr>
        <p:spPr>
          <a:xfrm>
            <a:off x="6163200" y="3968640"/>
            <a:ext cx="5467680" cy="45360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2" name="TextBox 20"/>
          <p:cNvSpPr/>
          <p:nvPr/>
        </p:nvSpPr>
        <p:spPr>
          <a:xfrm>
            <a:off x="6400800" y="4151520"/>
            <a:ext cx="50104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ca8a04"/>
                </a:solidFill>
                <a:latin typeface="Segoe UI"/>
              </a:rPr>
              <a:t>Operasyon ve Denetim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Box 21"/>
          <p:cNvSpPr/>
          <p:nvPr/>
        </p:nvSpPr>
        <p:spPr>
          <a:xfrm>
            <a:off x="6400800" y="4498920"/>
            <a:ext cx="5010480" cy="8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ca8a04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Yetki matrisi ile kimin ne yapabilecegi belli ve denetlenebilir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ca8a04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Kullanic ve zaman damgali islem kaydi tum gun boyunca tutulur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ca8a04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Hatalar ve iptaller nedenleriyle birlikte raporlanir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8000"/>
              </a:lnSpc>
              <a:spcAft>
                <a:spcPts val="300"/>
              </a:spcAft>
            </a:pPr>
            <a:r>
              <a:rPr b="1" lang="en-US" sz="980" spc="-1" strike="noStrike">
                <a:solidFill>
                  <a:srgbClr val="ca8a04"/>
                </a:solidFill>
                <a:latin typeface="Segoe UI"/>
              </a:rPr>
              <a:t>▸  </a:t>
            </a:r>
            <a:r>
              <a:rPr b="0" lang="en-US" sz="980" spc="-1" strike="noStrike">
                <a:solidFill>
                  <a:srgbClr val="ffffff"/>
                </a:solidFill>
                <a:latin typeface="Segoe UI"/>
              </a:rPr>
              <a:t>Personel degisimi durumunda sureklilik korunur</a:t>
            </a:r>
            <a:endParaRPr b="0" lang="tr-T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Rounded Rectangle 22"/>
          <p:cNvSpPr/>
          <p:nvPr/>
        </p:nvSpPr>
        <p:spPr>
          <a:xfrm>
            <a:off x="567000" y="5779080"/>
            <a:ext cx="11063880" cy="420120"/>
          </a:xfrm>
          <a:prstGeom prst="roundRect">
            <a:avLst>
              <a:gd name="adj" fmla="val 12000"/>
            </a:avLst>
          </a:prstGeom>
          <a:solidFill>
            <a:srgbClr val="1b2640"/>
          </a:solidFill>
          <a:ln w="12700">
            <a:solidFill>
              <a:srgbClr val="ca8a0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5" name="TextBox 23"/>
          <p:cNvSpPr/>
          <p:nvPr/>
        </p:nvSpPr>
        <p:spPr>
          <a:xfrm>
            <a:off x="868680" y="5861160"/>
            <a:ext cx="10515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Segoe UI"/>
              </a:rPr>
              <a:t>Sonuc: Hizmet kalitesini artirirken operasyon maliyetini dusurur; tesise hem misafir memnuniyeti hem olculur verimlilik saglar.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Rectangle 24"/>
          <p:cNvSpPr/>
          <p:nvPr/>
        </p:nvSpPr>
        <p:spPr>
          <a:xfrm>
            <a:off x="567000" y="6327720"/>
            <a:ext cx="11063880" cy="12600"/>
          </a:xfrm>
          <a:prstGeom prst="rect">
            <a:avLst/>
          </a:prstGeom>
          <a:solidFill>
            <a:srgbClr val="273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7" name="TextBox 25"/>
          <p:cNvSpPr/>
          <p:nvPr/>
        </p:nvSpPr>
        <p:spPr>
          <a:xfrm>
            <a:off x="567000" y="641916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a93"/>
                </a:solidFill>
                <a:latin typeface="Segoe UI"/>
              </a:rPr>
              <a:t>ALACARTE  |  Merit Hotels |  A La Carte Koordinasyon Sistemi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Box 26"/>
          <p:cNvSpPr/>
          <p:nvPr/>
        </p:nvSpPr>
        <p:spPr>
          <a:xfrm>
            <a:off x="9784080" y="6419160"/>
            <a:ext cx="1828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eab308"/>
                </a:solidFill>
                <a:latin typeface="Segoe UI"/>
              </a:rPr>
              <a:t>17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0" name="Rectangl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1" name="Rectangle 3"/>
          <p:cNvSpPr/>
          <p:nvPr/>
        </p:nvSpPr>
        <p:spPr>
          <a:xfrm>
            <a:off x="0" y="0"/>
            <a:ext cx="12191400" cy="8208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2" name="TextBox 4"/>
          <p:cNvSpPr/>
          <p:nvPr/>
        </p:nvSpPr>
        <p:spPr>
          <a:xfrm>
            <a:off x="777240" y="567000"/>
            <a:ext cx="10881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eab308"/>
                </a:solidFill>
                <a:latin typeface="Segoe UI"/>
              </a:rPr>
              <a:t>TEKNIK ALTYAPI VE SONUÇ</a:t>
            </a:r>
            <a:endParaRPr b="0" lang="tr-T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Box 5"/>
          <p:cNvSpPr/>
          <p:nvPr/>
        </p:nvSpPr>
        <p:spPr>
          <a:xfrm>
            <a:off x="777240" y="786240"/>
            <a:ext cx="10881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Segoe UI"/>
              </a:rPr>
              <a:t>Modern, Olceklenebilir ve Her Ortamda Calisan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Rounded Rectangle 6"/>
          <p:cNvSpPr/>
          <p:nvPr/>
        </p:nvSpPr>
        <p:spPr>
          <a:xfrm>
            <a:off x="777240" y="1371600"/>
            <a:ext cx="5394600" cy="219420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5" name="TextBox 7"/>
          <p:cNvSpPr/>
          <p:nvPr/>
        </p:nvSpPr>
        <p:spPr>
          <a:xfrm>
            <a:off x="1005840" y="1536120"/>
            <a:ext cx="49374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ab308"/>
                </a:solidFill>
                <a:latin typeface="Segoe UI"/>
              </a:rPr>
              <a:t>TEKNOLOJI YIGINI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Rectangle 8"/>
          <p:cNvSpPr/>
          <p:nvPr/>
        </p:nvSpPr>
        <p:spPr>
          <a:xfrm>
            <a:off x="1005840" y="1847160"/>
            <a:ext cx="45360" cy="273960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7" name="TextBox 9"/>
          <p:cNvSpPr/>
          <p:nvPr/>
        </p:nvSpPr>
        <p:spPr>
          <a:xfrm>
            <a:off x="1188720" y="1847160"/>
            <a:ext cx="14169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Segoe UI"/>
              </a:rPr>
              <a:t>Next.js 16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TextBox 10"/>
          <p:cNvSpPr/>
          <p:nvPr/>
        </p:nvSpPr>
        <p:spPr>
          <a:xfrm>
            <a:off x="2651760" y="1847160"/>
            <a:ext cx="329148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cabc4"/>
                </a:solidFill>
                <a:latin typeface="Segoe UI"/>
              </a:rPr>
              <a:t>Sunucu tarafi render ve derleme ile hizli ekranlar</a:t>
            </a:r>
            <a:endParaRPr b="0" lang="tr-T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Rectangle 11"/>
          <p:cNvSpPr/>
          <p:nvPr/>
        </p:nvSpPr>
        <p:spPr>
          <a:xfrm>
            <a:off x="1005840" y="2176200"/>
            <a:ext cx="45360" cy="273960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0" name="TextBox 12"/>
          <p:cNvSpPr/>
          <p:nvPr/>
        </p:nvSpPr>
        <p:spPr>
          <a:xfrm>
            <a:off x="1188720" y="2176200"/>
            <a:ext cx="14169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Segoe UI"/>
              </a:rPr>
              <a:t>React 19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Box 13"/>
          <p:cNvSpPr/>
          <p:nvPr/>
        </p:nvSpPr>
        <p:spPr>
          <a:xfrm>
            <a:off x="2651760" y="2176200"/>
            <a:ext cx="329148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cabc4"/>
                </a:solidFill>
                <a:latin typeface="Segoe UI"/>
              </a:rPr>
              <a:t>Modern, hizli arayuz ve anlik durum yonetimi</a:t>
            </a:r>
            <a:endParaRPr b="0" lang="tr-T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Rectangle 14"/>
          <p:cNvSpPr/>
          <p:nvPr/>
        </p:nvSpPr>
        <p:spPr>
          <a:xfrm>
            <a:off x="1005840" y="2505600"/>
            <a:ext cx="45360" cy="273960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3" name="TextBox 15"/>
          <p:cNvSpPr/>
          <p:nvPr/>
        </p:nvSpPr>
        <p:spPr>
          <a:xfrm>
            <a:off x="1188720" y="2505600"/>
            <a:ext cx="14169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Segoe UI"/>
              </a:rPr>
              <a:t>Prisma 6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Box 16"/>
          <p:cNvSpPr/>
          <p:nvPr/>
        </p:nvSpPr>
        <p:spPr>
          <a:xfrm>
            <a:off x="2651760" y="2505600"/>
            <a:ext cx="329148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cabc4"/>
                </a:solidFill>
                <a:latin typeface="Segoe UI"/>
              </a:rPr>
              <a:t>Guvenli veri modeli ve iliskisel sema</a:t>
            </a:r>
            <a:endParaRPr b="0" lang="tr-T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Rectangle 17"/>
          <p:cNvSpPr/>
          <p:nvPr/>
        </p:nvSpPr>
        <p:spPr>
          <a:xfrm>
            <a:off x="1005840" y="2834640"/>
            <a:ext cx="45360" cy="273960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6" name="TextBox 18"/>
          <p:cNvSpPr/>
          <p:nvPr/>
        </p:nvSpPr>
        <p:spPr>
          <a:xfrm>
            <a:off x="1188720" y="2834640"/>
            <a:ext cx="14169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Segoe UI"/>
              </a:rPr>
              <a:t>PostgreSQL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Box 19"/>
          <p:cNvSpPr/>
          <p:nvPr/>
        </p:nvSpPr>
        <p:spPr>
          <a:xfrm>
            <a:off x="2651760" y="2834640"/>
            <a:ext cx="329148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cabc4"/>
                </a:solidFill>
                <a:latin typeface="Segoe UI"/>
              </a:rPr>
              <a:t>Merkezi ve guvenilir veri tabani</a:t>
            </a:r>
            <a:endParaRPr b="0" lang="tr-T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Rectangle 20"/>
          <p:cNvSpPr/>
          <p:nvPr/>
        </p:nvSpPr>
        <p:spPr>
          <a:xfrm>
            <a:off x="1005840" y="3163680"/>
            <a:ext cx="45360" cy="273960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9" name="TextBox 21"/>
          <p:cNvSpPr/>
          <p:nvPr/>
        </p:nvSpPr>
        <p:spPr>
          <a:xfrm>
            <a:off x="1188720" y="3163680"/>
            <a:ext cx="14169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Segoe UI"/>
              </a:rPr>
              <a:t>Tailwind CSS 4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Box 22"/>
          <p:cNvSpPr/>
          <p:nvPr/>
        </p:nvSpPr>
        <p:spPr>
          <a:xfrm>
            <a:off x="2651760" y="3163680"/>
            <a:ext cx="329148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cabc4"/>
                </a:solidFill>
                <a:latin typeface="Segoe UI"/>
              </a:rPr>
              <a:t>Tutarli, duyarli tasarim sistemi</a:t>
            </a:r>
            <a:endParaRPr b="0" lang="tr-T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Rectangle 23"/>
          <p:cNvSpPr/>
          <p:nvPr/>
        </p:nvSpPr>
        <p:spPr>
          <a:xfrm>
            <a:off x="1005840" y="3493080"/>
            <a:ext cx="45360" cy="273960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2" name="TextBox 24"/>
          <p:cNvSpPr/>
          <p:nvPr/>
        </p:nvSpPr>
        <p:spPr>
          <a:xfrm>
            <a:off x="1188720" y="3493080"/>
            <a:ext cx="14169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Segoe UI"/>
              </a:rPr>
              <a:t>xlsx / PDF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Box 25"/>
          <p:cNvSpPr/>
          <p:nvPr/>
        </p:nvSpPr>
        <p:spPr>
          <a:xfrm>
            <a:off x="2651760" y="3493080"/>
            <a:ext cx="329148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9cabc4"/>
                </a:solidFill>
                <a:latin typeface="Segoe UI"/>
              </a:rPr>
              <a:t>Rapor disari aktarimi</a:t>
            </a:r>
            <a:endParaRPr b="0" lang="tr-T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Rounded Rectangle 26"/>
          <p:cNvSpPr/>
          <p:nvPr/>
        </p:nvSpPr>
        <p:spPr>
          <a:xfrm>
            <a:off x="6355080" y="1371600"/>
            <a:ext cx="5284800" cy="219420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12700">
            <a:solidFill>
              <a:srgbClr val="2733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5" name="TextBox 27"/>
          <p:cNvSpPr/>
          <p:nvPr/>
        </p:nvSpPr>
        <p:spPr>
          <a:xfrm>
            <a:off x="6583680" y="1536120"/>
            <a:ext cx="48459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ab308"/>
                </a:solidFill>
                <a:latin typeface="Segoe UI"/>
              </a:rPr>
              <a:t>SISTEMDEKI VERI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Box 28"/>
          <p:cNvSpPr/>
          <p:nvPr/>
        </p:nvSpPr>
        <p:spPr>
          <a:xfrm>
            <a:off x="6583680" y="190188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eab308"/>
                </a:solidFill>
                <a:latin typeface="Segoe UI"/>
              </a:rPr>
              <a:t>5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Box 29"/>
          <p:cNvSpPr/>
          <p:nvPr/>
        </p:nvSpPr>
        <p:spPr>
          <a:xfrm>
            <a:off x="6583680" y="2322720"/>
            <a:ext cx="1554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9cabc4"/>
                </a:solidFill>
                <a:latin typeface="Segoe UI"/>
              </a:rPr>
              <a:t>A La Carte restoran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TextBox 30"/>
          <p:cNvSpPr/>
          <p:nvPr/>
        </p:nvSpPr>
        <p:spPr>
          <a:xfrm>
            <a:off x="8211240" y="190188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eab308"/>
                </a:solidFill>
                <a:latin typeface="Segoe UI"/>
              </a:rPr>
              <a:t>57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Box 31"/>
          <p:cNvSpPr/>
          <p:nvPr/>
        </p:nvSpPr>
        <p:spPr>
          <a:xfrm>
            <a:off x="8211240" y="2322720"/>
            <a:ext cx="1554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9cabc4"/>
                </a:solidFill>
                <a:latin typeface="Segoe UI"/>
              </a:rPr>
              <a:t>Masa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Box 32"/>
          <p:cNvSpPr/>
          <p:nvPr/>
        </p:nvSpPr>
        <p:spPr>
          <a:xfrm>
            <a:off x="9838800" y="190188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eab308"/>
                </a:solidFill>
                <a:latin typeface="Segoe UI"/>
              </a:rPr>
              <a:t>63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Box 33"/>
          <p:cNvSpPr/>
          <p:nvPr/>
        </p:nvSpPr>
        <p:spPr>
          <a:xfrm>
            <a:off x="9838800" y="2322720"/>
            <a:ext cx="1554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9cabc4"/>
                </a:solidFill>
                <a:latin typeface="Segoe UI"/>
              </a:rPr>
              <a:t>Menu ogesi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Box 34"/>
          <p:cNvSpPr/>
          <p:nvPr/>
        </p:nvSpPr>
        <p:spPr>
          <a:xfrm>
            <a:off x="6583680" y="268848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eab308"/>
                </a:solidFill>
                <a:latin typeface="Segoe UI"/>
              </a:rPr>
              <a:t>24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Box 35"/>
          <p:cNvSpPr/>
          <p:nvPr/>
        </p:nvSpPr>
        <p:spPr>
          <a:xfrm>
            <a:off x="6583680" y="3108960"/>
            <a:ext cx="1554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9cabc4"/>
                </a:solidFill>
                <a:latin typeface="Segoe UI"/>
              </a:rPr>
              <a:t>Servis notu tanimli oge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TextBox 36"/>
          <p:cNvSpPr/>
          <p:nvPr/>
        </p:nvSpPr>
        <p:spPr>
          <a:xfrm>
            <a:off x="8211240" y="268848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eab308"/>
                </a:solidFill>
                <a:latin typeface="Segoe UI"/>
              </a:rPr>
              <a:t>14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Box 37"/>
          <p:cNvSpPr/>
          <p:nvPr/>
        </p:nvSpPr>
        <p:spPr>
          <a:xfrm>
            <a:off x="8211240" y="3108960"/>
            <a:ext cx="1554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9cabc4"/>
                </a:solidFill>
                <a:latin typeface="Segoe UI"/>
              </a:rPr>
              <a:t>Kullanici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Box 38"/>
          <p:cNvSpPr/>
          <p:nvPr/>
        </p:nvSpPr>
        <p:spPr>
          <a:xfrm>
            <a:off x="9838800" y="268848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eab308"/>
                </a:solidFill>
                <a:latin typeface="Segoe UI"/>
              </a:rPr>
              <a:t>4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Box 39"/>
          <p:cNvSpPr/>
          <p:nvPr/>
        </p:nvSpPr>
        <p:spPr>
          <a:xfrm>
            <a:off x="9838800" y="3108960"/>
            <a:ext cx="1554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9cabc4"/>
                </a:solidFill>
                <a:latin typeface="Segoe UI"/>
              </a:rPr>
              <a:t>Yetkili modul</a:t>
            </a:r>
            <a:endParaRPr b="0" lang="tr-T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Rounded Rectangle 40"/>
          <p:cNvSpPr/>
          <p:nvPr/>
        </p:nvSpPr>
        <p:spPr>
          <a:xfrm>
            <a:off x="777240" y="3767400"/>
            <a:ext cx="10862640" cy="1371240"/>
          </a:xfrm>
          <a:prstGeom prst="roundRect">
            <a:avLst>
              <a:gd name="adj" fmla="val 5000"/>
            </a:avLst>
          </a:prstGeom>
          <a:solidFill>
            <a:srgbClr val="1b2640"/>
          </a:solidFill>
          <a:ln w="12700">
            <a:solidFill>
              <a:srgbClr val="eab30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9" name="TextBox 41"/>
          <p:cNvSpPr/>
          <p:nvPr/>
        </p:nvSpPr>
        <p:spPr>
          <a:xfrm>
            <a:off x="1024200" y="3931920"/>
            <a:ext cx="10423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ab308"/>
                </a:solidFill>
                <a:latin typeface="Segoe UI"/>
              </a:rPr>
              <a:t>ALACARTE NEDEN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Box 42"/>
          <p:cNvSpPr/>
          <p:nvPr/>
        </p:nvSpPr>
        <p:spPr>
          <a:xfrm>
            <a:off x="1024200" y="4224600"/>
            <a:ext cx="104238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4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Segoe UI"/>
              </a:rPr>
              <a:t>Mutfak ile masa arasindaki iletisim kopuklugunu ve yanlis anlasilmalari ortadan kaldiran, anlik bildirimlerle misafir taleplerini mutfaga en hizli sekilde ileten; hem internet uzerinden hem de yerel agda, masausti - tablet ve telefondan calisan tek bir koordinasyon sistemidir.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Rounded Rectangle 43"/>
          <p:cNvSpPr/>
          <p:nvPr/>
        </p:nvSpPr>
        <p:spPr>
          <a:xfrm>
            <a:off x="777240" y="5285160"/>
            <a:ext cx="10862640" cy="840960"/>
          </a:xfrm>
          <a:prstGeom prst="roundRect">
            <a:avLst>
              <a:gd name="adj" fmla="val 7000"/>
            </a:avLst>
          </a:prstGeom>
          <a:solidFill>
            <a:srgbClr val="141d33"/>
          </a:solidFill>
          <a:ln w="12700">
            <a:solidFill>
              <a:srgbClr val="34d3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2" name="TextBox 44"/>
          <p:cNvSpPr/>
          <p:nvPr/>
        </p:nvSpPr>
        <p:spPr>
          <a:xfrm>
            <a:off x="1024200" y="5413320"/>
            <a:ext cx="1042380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Segoe UI"/>
              </a:rPr>
              <a:t>Kazanc: Hizmet kalitesi artar, mutfak verimliligi artar, bosta gider azalir, tum islemler raporlanabilir hale gelir. Sistem yonetimi tanimlari, sef raporlari, garson siparisi ve mutfak islemleri tek bir sistemde birlestirilmistir.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Box 45"/>
          <p:cNvSpPr/>
          <p:nvPr/>
        </p:nvSpPr>
        <p:spPr>
          <a:xfrm>
            <a:off x="777240" y="6309360"/>
            <a:ext cx="108810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ab308"/>
                </a:solidFill>
                <a:latin typeface="Segoe UI"/>
              </a:rPr>
              <a:t>Tesekkurler  -  Sorular ve detayli demo icin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tr-TR</dc:language>
  <cp:lastModifiedBy/>
  <dcterms:modified xsi:type="dcterms:W3CDTF">2026-09-26T08:21:46Z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