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11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20" y="0"/>
            <a:ext cx="18288" cy="6858000"/>
          </a:xfrm>
          <a:prstGeom prst="rect">
            <a:avLst/>
          </a:prstGeom>
          <a:solidFill>
            <a:srgbClr val="1E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326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24A"/>
                </a:solidFill>
                <a:latin typeface="Segoe UI"/>
              </a:rPr>
              <a:t>MERIT HOTELS &amp; RESORTS   •   OPERASYON DIJITALLEŞTIRME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800" b="1">
                <a:solidFill>
                  <a:srgbClr val="FFFFFF"/>
                </a:solidFill>
                <a:latin typeface="Segoe UI"/>
              </a:rPr>
              <a:t>ALACARTE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87168"/>
            <a:ext cx="1325880" cy="50292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E3ECEE"/>
                </a:solidFill>
                <a:latin typeface="Segoe UI"/>
              </a:rPr>
              <a:t>Masa ile mutfak arasındaki kopukluğu ortadan kaldıran,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E3ECEE"/>
                </a:solidFill>
                <a:latin typeface="Segoe UI"/>
              </a:rPr>
              <a:t>tek ekrandan yönetilen dijital işletim sistemi.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24528"/>
            <a:ext cx="1002460" cy="329184"/>
          </a:xfrm>
          <a:prstGeom prst="roundRect">
            <a:avLst>
              <a:gd name="adj" fmla="val 50000"/>
            </a:avLst>
          </a:prstGeom>
          <a:solidFill>
            <a:srgbClr val="16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C8A24A"/>
                </a:solidFill>
                <a:latin typeface="Segoe UI"/>
              </a:rPr>
              <a:t>5 Alakart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9156" y="4224528"/>
            <a:ext cx="945261" cy="329184"/>
          </a:xfrm>
          <a:prstGeom prst="roundRect">
            <a:avLst>
              <a:gd name="adj" fmla="val 50000"/>
            </a:avLst>
          </a:prstGeom>
          <a:solidFill>
            <a:srgbClr val="16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C8A24A"/>
                </a:solidFill>
                <a:latin typeface="Segoe UI"/>
              </a:rPr>
              <a:t>57 Masa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433" y="4224528"/>
            <a:ext cx="951610" cy="329184"/>
          </a:xfrm>
          <a:prstGeom prst="roundRect">
            <a:avLst>
              <a:gd name="adj" fmla="val 50000"/>
            </a:avLst>
          </a:prstGeom>
          <a:solidFill>
            <a:srgbClr val="16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C8A24A"/>
                </a:solidFill>
                <a:latin typeface="Segoe UI"/>
              </a:rPr>
              <a:t>4 Modül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2060" y="4224528"/>
            <a:ext cx="1271938" cy="329184"/>
          </a:xfrm>
          <a:prstGeom prst="roundRect">
            <a:avLst>
              <a:gd name="adj" fmla="val 50000"/>
            </a:avLst>
          </a:prstGeom>
          <a:solidFill>
            <a:srgbClr val="16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C8A24A"/>
                </a:solidFill>
                <a:latin typeface="Segoe UI"/>
              </a:rPr>
              <a:t>1 Veri Tabanı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983480"/>
            <a:ext cx="5943600" cy="10058"/>
          </a:xfrm>
          <a:prstGeom prst="rect">
            <a:avLst/>
          </a:prstGeom>
          <a:solidFill>
            <a:srgbClr val="244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9379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9EB4BA"/>
                </a:solidFill>
                <a:latin typeface="Segoe UI"/>
              </a:rPr>
              <a:t>Sipariş girişi, mutfak ekranı, iptal bildirimi, şef raporu ve tüm tanımlar
tek bir uygulamada bir arada.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96012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24A"/>
                </a:solidFill>
                <a:latin typeface="Segoe UI"/>
              </a:rPr>
              <a:t>TEK UYGULAMA, HER CİHAZ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389888"/>
            <a:ext cx="1865376" cy="1298448"/>
          </a:xfrm>
          <a:prstGeom prst="roundRect">
            <a:avLst>
              <a:gd name="adj" fmla="val 7000"/>
            </a:avLst>
          </a:prstGeom>
          <a:solidFill>
            <a:srgbClr val="16353E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1389888"/>
            <a:ext cx="1865376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7" y="166420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Masaüstü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7" y="1975104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Kasa, ofis ve yönetim bilgisayarı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93808" y="1389888"/>
            <a:ext cx="1865376" cy="1298448"/>
          </a:xfrm>
          <a:prstGeom prst="roundRect">
            <a:avLst>
              <a:gd name="adj" fmla="val 7000"/>
            </a:avLst>
          </a:prstGeom>
          <a:solidFill>
            <a:srgbClr val="16353E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93808" y="1389888"/>
            <a:ext cx="1865376" cy="45720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6688" y="166420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Tablet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1975104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Garsonun el terminali olarak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871216"/>
            <a:ext cx="1865376" cy="1298448"/>
          </a:xfrm>
          <a:prstGeom prst="roundRect">
            <a:avLst>
              <a:gd name="adj" fmla="val 7000"/>
            </a:avLst>
          </a:prstGeom>
          <a:solidFill>
            <a:srgbClr val="16353E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2871216"/>
            <a:ext cx="1865376" cy="45720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4553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Mobil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456432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Sahada, masadan masaya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2871216"/>
            <a:ext cx="1865376" cy="1298448"/>
          </a:xfrm>
          <a:prstGeom prst="roundRect">
            <a:avLst>
              <a:gd name="adj" fmla="val 7000"/>
            </a:avLst>
          </a:prstGeom>
          <a:solidFill>
            <a:srgbClr val="16353E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93808" y="2871216"/>
            <a:ext cx="1865376" cy="45720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314553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Yerel Ağ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3456432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Salon i‧si Wi-Fi ile de çalışır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45262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9EB4BA"/>
                </a:solidFill>
                <a:latin typeface="Segoe UI"/>
              </a:rPr>
              <a:t>İnternet üzerinden veya tesis içi yerel ağ üzerinden
— kullandığın altyapıya göre esnek.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İÇINDEKILER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Sunum Planı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Altı başlık, çözüm ve kazancı bölümleriyle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0292" cy="12984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5681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196596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Sektörün Gerçek Sorunu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2340864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Kağıt fiş döngüsünde nerede bilgi kayboluyor?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719072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719072"/>
            <a:ext cx="50292" cy="1298448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5681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196596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ALACARTE Çözüm Mimarisi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344" y="2340864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Dört modül ve anlık bildirim zinciri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09544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09544"/>
            <a:ext cx="50292" cy="12984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447287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6" y="345643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Modül Detayları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2496" y="3831335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Garson, mutfak, şef paneli ve sistem yöneticisi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3209544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216" y="3209544"/>
            <a:ext cx="50292" cy="1298448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447287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345643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Kullanım Kolaylığı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3831335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Masaüstü, tablet, mobil; internet veya yerel ağ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700016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700016"/>
            <a:ext cx="50292" cy="12984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93775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6" y="494690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Çözülen Sorunlar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496" y="5321807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Sınıf işleyişte kapatılan sekiz kök nokta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4700016"/>
            <a:ext cx="5239512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0216" y="4700016"/>
            <a:ext cx="50292" cy="1298448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493775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DACE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494690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Tesis İçin Kazançları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4344" y="5321807"/>
            <a:ext cx="3977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Hizmet, mutfak, gelir ve operasyon kazanımları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SEKTÖRÜN GERÇEK SORUNU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Bugün Bilgi Restoranda Nasıl Aktarılıyor?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Klasik işletme modeli: söz, kağıt ve hafıza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0292" cy="14813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56816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011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222A"/>
                </a:solidFill>
                <a:latin typeface="Segoe UI"/>
              </a:rPr>
              <a:t>Garson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19568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Siparişi alır, kafadan yazar veya fiş yazar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2377440"/>
            <a:ext cx="292608" cy="237744"/>
          </a:xfrm>
          <a:prstGeom prst="rightArrow">
            <a:avLst>
              <a:gd name="adj1" fmla="val 42000"/>
              <a:gd name="adj2" fmla="val 62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008" y="1755648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755648"/>
            <a:ext cx="50292" cy="14813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30752" y="1956816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222A"/>
                </a:solidFill>
                <a:latin typeface="Segoe UI"/>
              </a:rPr>
              <a:t>Fiş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450592"/>
            <a:ext cx="19568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Fiş mutfağa taşınır, ekte kalan masa noı okunur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61888" y="2377440"/>
            <a:ext cx="292608" cy="237744"/>
          </a:xfrm>
          <a:prstGeom prst="rightArrow">
            <a:avLst>
              <a:gd name="adj1" fmla="val 42000"/>
              <a:gd name="adj2" fmla="val 62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7648" y="1755648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755648"/>
            <a:ext cx="50292" cy="14813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2" y="1956816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011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222A"/>
                </a:solidFill>
                <a:latin typeface="Segoe UI"/>
              </a:rPr>
              <a:t>Mutfak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450592"/>
            <a:ext cx="19568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Fiş okunur, akış sırasına eklenir, hazırlanır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6528" y="2377440"/>
            <a:ext cx="292608" cy="237744"/>
          </a:xfrm>
          <a:prstGeom prst="rightArrow">
            <a:avLst>
              <a:gd name="adj1" fmla="val 42000"/>
              <a:gd name="adj2" fmla="val 62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62288" y="1755648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62288" y="1755648"/>
            <a:ext cx="50292" cy="14813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00032" y="1956816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2011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222A"/>
                </a:solidFill>
                <a:latin typeface="Segoe UI"/>
              </a:rPr>
              <a:t>Geri dönüş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2450592"/>
            <a:ext cx="19568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Garson gelen tabağı alır, teslim eder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52958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0222A"/>
                </a:solidFill>
                <a:latin typeface="Segoe UI"/>
              </a:rPr>
              <a:t>Bu döngüde üç kırılma noktası var — her biri başımsız sipariş demek: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50208"/>
            <a:ext cx="3502152" cy="129844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0292" cy="129844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16966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BE4D43"/>
                </a:solidFill>
                <a:latin typeface="Segoe UI"/>
              </a:rPr>
              <a:t>Fiş kaybolur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517136"/>
            <a:ext cx="29992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8A453E"/>
                </a:solidFill>
                <a:latin typeface="Segoe UI"/>
              </a:rPr>
              <a:t>Tehlike iüçinde, garson kıçında beklerken mutfak siparişi hiç görmez.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950208"/>
            <a:ext cx="3502152" cy="129844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3950208"/>
            <a:ext cx="50292" cy="129844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416966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BE4D43"/>
                </a:solidFill>
                <a:latin typeface="Segoe UI"/>
              </a:rPr>
              <a:t>Sözlö anlaşılmaz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517136"/>
            <a:ext cx="29992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8A453E"/>
                </a:solidFill>
                <a:latin typeface="Segoe UI"/>
              </a:rPr>
              <a:t>“Az pişmiş”, “acele”, “fürün” notu yazıya dönüümeyebilir.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8432" y="3950208"/>
            <a:ext cx="3502152" cy="129844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28432" y="3950208"/>
            <a:ext cx="50292" cy="129844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16966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BE4D43"/>
                </a:solidFill>
                <a:latin typeface="Segoe UI"/>
              </a:rPr>
              <a:t>Geri bildirim dönmez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517136"/>
            <a:ext cx="29992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8A453E"/>
                </a:solidFill>
                <a:latin typeface="Segoe UI"/>
              </a:rPr>
              <a:t>Tabak çıktığında mutfak yeni sipariş hazırlamaya devam eder.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440680"/>
            <a:ext cx="10881360" cy="713232"/>
          </a:xfrm>
          <a:prstGeom prst="roundRect">
            <a:avLst>
              <a:gd name="adj" fmla="val 10000"/>
            </a:avLst>
          </a:prstGeom>
          <a:solidFill>
            <a:srgbClr val="0A1E25"/>
          </a:solidFill>
          <a:ln w="12700">
            <a:solidFill>
              <a:srgbClr val="0A1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614416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Sonuç: Sistem, insan hafızasına ve bağrıya dayanıyor. Yoğun saatte hata kaçınılmaz.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SEKTÖRÜN GERÇEK SORUNU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Altı Temel Sorun ve ALACARTE’daki Karşılığı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Her madde uygulamada karőlık buluyor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Kaybolan fiş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Fiş yazdırılıp kayboluyor, mutfak siparişi hiç algılamıyor.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8950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9992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Sipariş tek bir merkezde, kayıt altında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0078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0078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Yanlış anlaşılma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677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“Az pişmiş”, “acele”, “alakasız” gibi notlar sözle iletiliyor.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88950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9992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Siparişe yazılı servis notu olarak ekleniyor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2" y="170078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170078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1920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İptal haberi ulaşmıyor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677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Garson iptal ediyor, mutfak habersiz yemeği hazırlamaya devam ediyor.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288950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9992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Onay → mutfağa anınık iptal bildirimi + iptal fişi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1246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71246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931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Revizyon kaybı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7939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Masa değişti, ekleme yapıldı; mutfakta iki ayrı fiş oluştu.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490118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0109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Sipariş güncellenir, mutfakta Revizyon rozetiyle belirir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71246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71246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931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Mutfak yığılması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27939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Akşam yoğun saatlerinde panoda sıra kaotik, kim neye baktı bilinmiyor.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490118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50109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Canlı mutfak ekranı, filtre sekmeleri ve net durum rozetleri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2" y="3712464"/>
            <a:ext cx="3502152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2" y="3712464"/>
            <a:ext cx="45720" cy="184708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931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0222A"/>
                </a:solidFill>
                <a:latin typeface="Segoe UI"/>
              </a:rPr>
              <a:t>Ölçülemeyen işleyiş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27939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Gün sonu “ne kaçtı, ne iştenek kullanıldı, kim kaçırdı” cevapsız.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4901184"/>
            <a:ext cx="2962656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50109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1">
                <a:solidFill>
                  <a:srgbClr val="0E7C7B"/>
                </a:solidFill>
                <a:latin typeface="Segoe UI"/>
              </a:rPr>
              <a:t>Şef panelinden tarih aralığı raporu, Excel ve PDF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742432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87959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E7C7B"/>
                </a:solidFill>
                <a:latin typeface="Segoe UI"/>
              </a:rPr>
              <a:t>Altı sorunun altında tek bir neden var: bilgi masadan mutfağa insan hafızasıyla değil, yazıyla değil gitmiyor.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C8A24A"/>
                </a:solidFill>
                <a:latin typeface="Segoe UI"/>
              </a:rP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Segoe UI"/>
              </a:rPr>
              <a:t>ALACARTE: Dört Modül, Tek İşletim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BCC2"/>
                </a:solidFill>
                <a:latin typeface="Segoe UI"/>
              </a:rPr>
              <a:t>Her modül kendi yetkisine sahip, veri tek merkezde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112B33"/>
          </a:solidFill>
          <a:ln w="12700">
            <a:solidFill>
              <a:srgbClr val="25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2587752" cy="6400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SİSTEM YÖNETİCİSİ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359152"/>
            <a:ext cx="627507" cy="237744"/>
          </a:xfrm>
          <a:prstGeom prst="roundRect">
            <a:avLst>
              <a:gd name="adj" fmla="val 50000"/>
            </a:avLst>
          </a:prstGeom>
          <a:solidFill>
            <a:srgbClr val="1E3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9EB4BA"/>
                </a:solidFill>
                <a:latin typeface="Segoe UI"/>
              </a:rPr>
              <a:t>ADMIN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3326130"/>
            <a:ext cx="56692" cy="566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784348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Kullanıcı tanımları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613411"/>
            <a:ext cx="56692" cy="566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071629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Alakart (restoran) tanımları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900693"/>
            <a:ext cx="56692" cy="566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358911"/>
            <a:ext cx="1883664" cy="464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Masa, menü grubu ve menü öği tanımları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392960"/>
            <a:ext cx="56692" cy="5669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851178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Servis notu tanımları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4370832"/>
            <a:ext cx="2121408" cy="10058"/>
          </a:xfrm>
          <a:prstGeom prst="rect">
            <a:avLst/>
          </a:prstGeom>
          <a:solidFill>
            <a:srgbClr val="254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480560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C8A24A"/>
                </a:solidFill>
                <a:latin typeface="Segoe UI"/>
              </a:rPr>
              <a:t>Tanım yönetimi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1755648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112B33"/>
          </a:solidFill>
          <a:ln w="12700">
            <a:solidFill>
              <a:srgbClr val="25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1755648"/>
            <a:ext cx="2587752" cy="64008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2011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ŞEF PANELİ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66744" y="2359152"/>
            <a:ext cx="522732" cy="237744"/>
          </a:xfrm>
          <a:prstGeom prst="roundRect">
            <a:avLst>
              <a:gd name="adj" fmla="val 50000"/>
            </a:avLst>
          </a:prstGeom>
          <a:solidFill>
            <a:srgbClr val="1E3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9EB4BA"/>
                </a:solidFill>
                <a:latin typeface="Segoe UI"/>
              </a:rPr>
              <a:t>CHEF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326130"/>
            <a:ext cx="56692" cy="56692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3" y="2784348"/>
            <a:ext cx="1883664" cy="464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Tüm alakartlarda canlı işleyiş izleme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3818397"/>
            <a:ext cx="56692" cy="56692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41063" y="3276615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Gün / tarih aralığı raporlama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4105678"/>
            <a:ext cx="56692" cy="56692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1063" y="3563896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Excel ve PDF çıktı</a:t>
            </a:r>
          </a:p>
        </p:txBody>
      </p:sp>
      <p:sp>
        <p:nvSpPr>
          <p:cNvPr id="32" name="Oval 31"/>
          <p:cNvSpPr/>
          <p:nvPr/>
        </p:nvSpPr>
        <p:spPr>
          <a:xfrm>
            <a:off x="3666744" y="4392960"/>
            <a:ext cx="56692" cy="56692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41063" y="3851178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Restoran seçerek sipariş girişi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6744" y="4370832"/>
            <a:ext cx="2121408" cy="10058"/>
          </a:xfrm>
          <a:prstGeom prst="rect">
            <a:avLst/>
          </a:prstGeom>
          <a:solidFill>
            <a:srgbClr val="254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4480560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C8A24A"/>
                </a:solidFill>
                <a:latin typeface="Segoe UI"/>
              </a:rPr>
              <a:t>Göröntüleme + rapor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1" y="1755648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112B33"/>
          </a:solidFill>
          <a:ln w="12700">
            <a:solidFill>
              <a:srgbClr val="25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1" y="1755648"/>
            <a:ext cx="2587752" cy="64008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5" y="2011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GARSON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7375" y="2359152"/>
            <a:ext cx="656032" cy="237744"/>
          </a:xfrm>
          <a:prstGeom prst="roundRect">
            <a:avLst>
              <a:gd name="adj" fmla="val 50000"/>
            </a:avLst>
          </a:prstGeom>
          <a:solidFill>
            <a:srgbClr val="1E3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9EB4BA"/>
                </a:solidFill>
                <a:latin typeface="Segoe UI"/>
              </a:rPr>
              <a:t>WAITER</a:t>
            </a:r>
          </a:p>
        </p:txBody>
      </p:sp>
      <p:sp>
        <p:nvSpPr>
          <p:cNvPr id="40" name="Oval 39"/>
          <p:cNvSpPr/>
          <p:nvPr/>
        </p:nvSpPr>
        <p:spPr>
          <a:xfrm>
            <a:off x="6437375" y="3326130"/>
            <a:ext cx="56692" cy="56692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5" y="2784348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Girişte alakart seçimi</a:t>
            </a:r>
          </a:p>
        </p:txBody>
      </p:sp>
      <p:sp>
        <p:nvSpPr>
          <p:cNvPr id="42" name="Oval 41"/>
          <p:cNvSpPr/>
          <p:nvPr/>
        </p:nvSpPr>
        <p:spPr>
          <a:xfrm>
            <a:off x="6437375" y="3613411"/>
            <a:ext cx="56692" cy="56692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5" y="3071629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Masa açma ve menüden sipariş</a:t>
            </a:r>
          </a:p>
        </p:txBody>
      </p:sp>
      <p:sp>
        <p:nvSpPr>
          <p:cNvPr id="44" name="Oval 43"/>
          <p:cNvSpPr/>
          <p:nvPr/>
        </p:nvSpPr>
        <p:spPr>
          <a:xfrm>
            <a:off x="6437375" y="3900693"/>
            <a:ext cx="56692" cy="56692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5" y="3358911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Yemeğe özel servis notu seçimi</a:t>
            </a:r>
          </a:p>
        </p:txBody>
      </p:sp>
      <p:sp>
        <p:nvSpPr>
          <p:cNvPr id="46" name="Oval 45"/>
          <p:cNvSpPr/>
          <p:nvPr/>
        </p:nvSpPr>
        <p:spPr>
          <a:xfrm>
            <a:off x="6437375" y="4187974"/>
            <a:ext cx="56692" cy="56692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5" y="3646192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Siparişlerim, iptal ve iptal fişi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5" y="4370832"/>
            <a:ext cx="2121408" cy="10058"/>
          </a:xfrm>
          <a:prstGeom prst="rect">
            <a:avLst/>
          </a:prstGeom>
          <a:solidFill>
            <a:srgbClr val="254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7375" y="4480560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C8A24A"/>
                </a:solidFill>
                <a:latin typeface="Segoe UI"/>
              </a:rPr>
              <a:t>Sipariş girişi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0264" y="1755648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112B33"/>
          </a:solidFill>
          <a:ln w="12700">
            <a:solidFill>
              <a:srgbClr val="25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70264" y="1755648"/>
            <a:ext cx="2587752" cy="64008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8008" y="2011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MUTFAK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08008" y="2359152"/>
            <a:ext cx="709957" cy="237744"/>
          </a:xfrm>
          <a:prstGeom prst="roundRect">
            <a:avLst>
              <a:gd name="adj" fmla="val 50000"/>
            </a:avLst>
          </a:prstGeom>
          <a:solidFill>
            <a:srgbClr val="1E3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0">
                <a:solidFill>
                  <a:srgbClr val="9EB4BA"/>
                </a:solidFill>
                <a:latin typeface="Segoe UI"/>
              </a:rPr>
              <a:t>KITCHEN</a:t>
            </a:r>
          </a:p>
        </p:txBody>
      </p:sp>
      <p:sp>
        <p:nvSpPr>
          <p:cNvPr id="54" name="Oval 53"/>
          <p:cNvSpPr/>
          <p:nvPr/>
        </p:nvSpPr>
        <p:spPr>
          <a:xfrm>
            <a:off x="9208008" y="3326130"/>
            <a:ext cx="56692" cy="56692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2784348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Alakarta otomatik atanır</a:t>
            </a:r>
          </a:p>
        </p:txBody>
      </p:sp>
      <p:sp>
        <p:nvSpPr>
          <p:cNvPr id="56" name="Oval 55"/>
          <p:cNvSpPr/>
          <p:nvPr/>
        </p:nvSpPr>
        <p:spPr>
          <a:xfrm>
            <a:off x="9208008" y="3613411"/>
            <a:ext cx="56692" cy="56692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82328" y="3071629"/>
            <a:ext cx="1883664" cy="464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Canlı mutfak ekranı ve filtre sekmeleri</a:t>
            </a:r>
          </a:p>
        </p:txBody>
      </p:sp>
      <p:sp>
        <p:nvSpPr>
          <p:cNvPr id="58" name="Oval 57"/>
          <p:cNvSpPr/>
          <p:nvPr/>
        </p:nvSpPr>
        <p:spPr>
          <a:xfrm>
            <a:off x="9208008" y="4105678"/>
            <a:ext cx="56692" cy="56692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82328" y="3563896"/>
            <a:ext cx="1883664" cy="464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Hazırlanıyor / Tamamlandı işaretleme</a:t>
            </a:r>
          </a:p>
        </p:txBody>
      </p:sp>
      <p:sp>
        <p:nvSpPr>
          <p:cNvPr id="60" name="Oval 59"/>
          <p:cNvSpPr/>
          <p:nvPr/>
        </p:nvSpPr>
        <p:spPr>
          <a:xfrm>
            <a:off x="9208008" y="4597946"/>
            <a:ext cx="56692" cy="56692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82328" y="4056164"/>
            <a:ext cx="1883664" cy="259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C7D7DA"/>
                </a:solidFill>
                <a:latin typeface="Segoe UI"/>
              </a:rPr>
              <a:t>Adisyon yazıcısı ile fiş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4370832"/>
            <a:ext cx="2121408" cy="10058"/>
          </a:xfrm>
          <a:prstGeom prst="rect">
            <a:avLst/>
          </a:prstGeom>
          <a:solidFill>
            <a:srgbClr val="254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08008" y="4480560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C8A24A"/>
                </a:solidFill>
                <a:latin typeface="Segoe UI"/>
              </a:rPr>
              <a:t>Durum işaretleme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5010912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112B33"/>
          </a:solidFill>
          <a:ln w="12700">
            <a:solidFill>
              <a:srgbClr val="25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" y="517550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8A24A"/>
                </a:solidFill>
                <a:latin typeface="Segoe UI"/>
              </a:rPr>
              <a:t>ANLIK BİLDİRİM ZİNCİRİ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5468112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CE7E9"/>
                </a:solidFill>
                <a:latin typeface="Segoe UI"/>
              </a:rPr>
              <a:t>Garson siparişi kaydettiği anda bilgi mutfağa ulaşır; mutfak işaretledikçe garson aynı ekranda durumu görür.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2A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CA3AA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CA3AA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Siparişten Tabağa Anlık Bildirim Zinciri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Kâğıt yok, bağrıma yok, tahmin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45720" cy="1737360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956816"/>
            <a:ext cx="365760" cy="365760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0222A"/>
                </a:solidFill>
                <a:latin typeface="Segoe UI"/>
              </a:rPr>
              <a:t>Sipariş oluşturulur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Garson menüden ürünü seçer, servis notunu işaretler ve siparişi gönderir.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00784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00784"/>
            <a:ext cx="45720" cy="1737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1956816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0222A"/>
                </a:solidFill>
                <a:latin typeface="Segoe UI"/>
              </a:rPr>
              <a:t>Mutfağa anlık bildirim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4203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Sipariş oluş anında mutfak ekranına düşer; sesli uyarı çalar.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700784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700784"/>
            <a:ext cx="45720" cy="1737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956816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7" b="1">
                <a:solidFill>
                  <a:srgbClr val="10222A"/>
                </a:solidFill>
                <a:latin typeface="Segoe UI"/>
              </a:rPr>
              <a:t>Mutfak ekranında “Yeni Sipariş”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4203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Sipariş, masa no ve öğeleriyle birlikte mutfağın kuyruğuna eklenir.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02736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602736"/>
            <a:ext cx="45720" cy="1737360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3858768"/>
            <a:ext cx="365760" cy="365760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39136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0222A"/>
                </a:solidFill>
                <a:latin typeface="Segoe UI"/>
              </a:rPr>
              <a:t>Hazırlanıyor → Tamamlandı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443984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Mutfak pişirdiğinde iki kademeli durum işaretlemesi yapar; yazıcıdan fiş çıkar.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02736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602736"/>
            <a:ext cx="45720" cy="1737360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20" y="3858768"/>
            <a:ext cx="365760" cy="365760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39136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0222A"/>
                </a:solidFill>
                <a:latin typeface="Segoe UI"/>
              </a:rPr>
              <a:t>Garson bilgilendirilir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443984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Garson “Siparişlerim” listesinde durumu anlık olarak görür.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2" y="3602736"/>
            <a:ext cx="35021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2" y="3602736"/>
            <a:ext cx="45720" cy="1737360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02752" y="3858768"/>
            <a:ext cx="365760" cy="365760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9136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0222A"/>
                </a:solidFill>
                <a:latin typeface="Segoe UI"/>
              </a:rPr>
              <a:t>Misafire doğru tabak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443984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Müşteri istediği ““ adıyla, zamanında ve doğru ölçekle servis edilir.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81360" cy="658368"/>
          </a:xfrm>
          <a:prstGeom prst="roundRect">
            <a:avLst>
              <a:gd name="adj" fmla="val 10000"/>
            </a:avLst>
          </a:prstGeom>
          <a:solidFill>
            <a:srgbClr val="0A1E25"/>
          </a:solidFill>
          <a:ln w="12700">
            <a:solidFill>
              <a:srgbClr val="0A1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742432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Aynı bilgi, aynı anda garsonun ve mutfağın ekranında. İletişim zinciri kör çğılmç — tek kaynaktan ilerler.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84831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579" b="1">
                <a:solidFill>
                  <a:srgbClr val="1C3C45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8470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24A"/>
                </a:solidFill>
                <a:latin typeface="Segoe UI"/>
              </a:rPr>
              <a:t>BÖLÜM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272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Modüller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913632"/>
            <a:ext cx="1188720" cy="4572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224528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9EB4BA"/>
                </a:solidFill>
                <a:latin typeface="Segoe UI"/>
              </a:rPr>
              <a:t>Garson, mutfak, şef paneli ve sistem yöneticisi — her biri kendi ekranı, kendi yetkisi ve kendi iş akışı.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1168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011680"/>
            <a:ext cx="54864" cy="69494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13055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GARSON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957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Sipariş girişi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88036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880360"/>
            <a:ext cx="54864" cy="694944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99923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MUTFAK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26440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Canlı mutfak ve durum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749039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749039"/>
            <a:ext cx="54864" cy="694944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86791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ŞEF PANELİ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133087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Raporlama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61772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4617720"/>
            <a:ext cx="54864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73659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SİSTEM YÖNETİCİSİ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00176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EB4BA"/>
                </a:solidFill>
                <a:latin typeface="Segoe UI"/>
              </a:rPr>
              <a:t>Tanımlar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GARSON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Alakart Seçimi ve Masa Ekranı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Garson giriş yapar, alakartı seçer, masayı açar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3230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2788920" cy="7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Garson girişinde 5 alakarttan biri seçilir: The Roof Garden, The Steak House, Blue Sea, Mandarin ve Bella Merit.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312871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5651"/>
            <a:ext cx="2788920" cy="7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Seçilen alakart oturum boyunca sabit kalır; “Alakart Değiştir” işlemi yalnızca çıkış yaparak yapılabilir.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193438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76218"/>
            <a:ext cx="2788920" cy="7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Masa listesinde dolu/boş durumu, masa kapasitesi ve oturan misafir bilgisi anında görülür.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074005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456785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Masa seçilince menü ekranı açılır; menü grupları ve arama çalışır.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3063240" cy="1024128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Segoe UI"/>
              </a:rPr>
              <a:t>NEDEN GEREKLİ?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59552"/>
            <a:ext cx="26151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89" b="0">
                <a:solidFill>
                  <a:srgbClr val="2A6B6A"/>
                </a:solidFill>
                <a:latin typeface="Segoe UI"/>
              </a:rPr>
              <a:t>Bir tesis içinde birden fazla alakart olması, garsonun hangi mekânda çalışacağını netleştirmesini sağlar.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306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10512"/>
            <a:ext cx="3520440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Giriş sonrası alakart (restoran) seçimi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782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_v2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810512"/>
            <a:ext cx="3520440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Seçilen alakartın masa listesi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828032"/>
            <a:ext cx="7315200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4828032"/>
            <a:ext cx="45720" cy="969264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5010912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Mutfak tarafında bağımsızlık: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285232"/>
            <a:ext cx="6766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Her alakart için ayrı bir mutfak kullanıcısı vardır. Mutfak personeli giriş yaptığında zaten tek alakarta kilitlenir.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GARSON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Menü, Gruplar ve Servis Notu Seçimi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Yemeğe özel servis notları sipariş anında seçilebilir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3230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2788920" cy="7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Menü; başlıklar, ana yemekler, ara sıcaklar, tatlılar ve içecekler gruplarına ayrılır.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312871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5651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Arama kutusuyla isim yazılarak yemeğe doğrudan ulaşılır.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951731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34512"/>
            <a:ext cx="2788920" cy="7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Sistem yöneticisinin menü öğelerine eklediği servis notları, garson ekranında seçilebilir olarak çıkar.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832299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15079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Seçilen not siparişe yazılır ve aynı not mutfağa da iletilir.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3063240" cy="1024128"/>
          </a:xfrm>
          <a:prstGeom prst="roundRect">
            <a:avLst>
              <a:gd name="adj" fmla="val 8000"/>
            </a:avLst>
          </a:prstGeom>
          <a:solidFill>
            <a:srgbClr val="F8EFD9"/>
          </a:solidFill>
          <a:ln w="12700">
            <a:solidFill>
              <a:srgbClr val="EA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862A"/>
                </a:solidFill>
                <a:latin typeface="Segoe UI"/>
              </a:rPr>
              <a:t>SERVİS NOTU ÖRNEĞİ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59552"/>
            <a:ext cx="26151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89" b="0">
                <a:solidFill>
                  <a:srgbClr val="7A5C1C"/>
                </a:solidFill>
                <a:latin typeface="Segoe UI"/>
              </a:rPr>
              <a:t>Menüdeki 63 öğinin 24’ünde tanımlı servis notu var. Not ekranında ayrı bir alan olarak görülür.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306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10512"/>
            <a:ext cx="3520440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Menü grupları ve arama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782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10512"/>
            <a:ext cx="3520440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Servis notu seçim penceresi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828032"/>
            <a:ext cx="7315200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4828032"/>
            <a:ext cx="45720" cy="96926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5010912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Somut örnek: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285232"/>
            <a:ext cx="6766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“Az pişmiş”, “Açerisi olmasın”, “Alerjisi var” gibi notlar yemek seçilirken tek tıkla işaretlenir.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GARSON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Sipariş Girişi ve Onay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Masa açık sipariş oluşturulur ve doğrudan mutfağa gider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3230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Garson alakart ve masa seçer, menüden ürünleri sepete ekler.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7116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5394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Sepette servis notlu ürünler ayrı işaretle görülür.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10025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92805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Sipariş onay ekranında masa, alakart ve öğeler tek tek doğrulanır.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48886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31666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Onaydan sonra sipariş mutfağa gönderilir ve “Siparişlerim” listesine yazılır.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3063240" cy="1024128"/>
          </a:xfrm>
          <a:prstGeom prst="roundRect">
            <a:avLst>
              <a:gd name="adj" fmla="val 8000"/>
            </a:avLst>
          </a:prstGeom>
          <a:solidFill>
            <a:srgbClr val="E6F3EB"/>
          </a:solidFill>
          <a:ln w="12700">
            <a:solidFill>
              <a:srgbClr val="C7E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7A58"/>
                </a:solidFill>
                <a:latin typeface="Segoe UI"/>
              </a:rPr>
              <a:t>ANLIK GERÇEBİLİM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59552"/>
            <a:ext cx="26151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89" b="0">
                <a:solidFill>
                  <a:srgbClr val="2A634A"/>
                </a:solidFill>
                <a:latin typeface="Segoe UI"/>
              </a:rPr>
              <a:t>Sipariş kaydıt anında mutfak ekranına çöker. Garsonun siparişi unutması ya da geç iletmesi mümkün değil.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306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10512"/>
            <a:ext cx="3520440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Sipariş onay ekranı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782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10512"/>
            <a:ext cx="3520440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Sipariş mutfağa gönderildi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GARSON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Siparişlerim ve İptal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Garson o günkü siparişleri mutfak durumuyla birlikte izler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222A"/>
                </a:solidFill>
                <a:latin typeface="Segoe UI"/>
              </a:rPr>
              <a:t>Siparişlerim listesi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" y="2052827"/>
            <a:ext cx="3602736" cy="2313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03120"/>
            <a:ext cx="3502152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462272"/>
            <a:ext cx="3474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O güne ait siparişler mutfak durumu rozetleriyle yan yana listelenir; rozet üzerine tıklanınca sipariş açılır.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682496"/>
            <a:ext cx="310896" cy="310896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222A"/>
                </a:solidFill>
                <a:latin typeface="Segoe UI"/>
              </a:rPr>
              <a:t>1 — İptal onayı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3108" y="2052827"/>
            <a:ext cx="3602736" cy="2313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_v2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03120"/>
            <a:ext cx="3502152" cy="2212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43400" y="4462272"/>
            <a:ext cx="3474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İptal butonuna basılır; önce onay penceresi açılır. Onaylanmadan hiçbir işlem yapılmaz.</a:t>
            </a:r>
          </a:p>
        </p:txBody>
      </p:sp>
      <p:sp>
        <p:nvSpPr>
          <p:cNvPr id="18" name="Oval 17"/>
          <p:cNvSpPr/>
          <p:nvPr/>
        </p:nvSpPr>
        <p:spPr>
          <a:xfrm>
            <a:off x="8028432" y="1682496"/>
            <a:ext cx="310896" cy="310896"/>
          </a:xfrm>
          <a:prstGeom prst="ellipse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719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222A"/>
                </a:solidFill>
                <a:latin typeface="Segoe UI"/>
              </a:rPr>
              <a:t>2 — Mutfağa bildirilsin mi?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8140" y="2052827"/>
            <a:ext cx="3602736" cy="2313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_v2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103120"/>
            <a:ext cx="3502152" cy="22128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28432" y="4462272"/>
            <a:ext cx="3474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Sistem sorar: “İptal bilgisi mutfağa gönderilsin mi?” “EVET” seçilirse iptal bildirimi anında mutfağa ulaşır.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12080"/>
            <a:ext cx="10881360" cy="102412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12080"/>
            <a:ext cx="45720" cy="102412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9496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E4D43"/>
                </a:solidFill>
                <a:latin typeface="Segoe UI"/>
              </a:rPr>
              <a:t>3 — İptal fışi ve mutfak İptal Edilenler sekmesi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8756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8A453E"/>
                </a:solidFill>
                <a:latin typeface="Segoe UI"/>
              </a:rPr>
              <a:t>Onay “EVET” deyince iptal fişi yazdırılır; mutfak ekranındaki “İptal Edilenler” sekmesine kayıt düşer ve mutfak HAZIRLAMAZ.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MUTFAK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Mutfak Ekranı: Siparişler Saniyeler İçinde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Canlı Mutfak Ekranı — mutfağın tek çalışma noktası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" y="1668780"/>
            <a:ext cx="7004304" cy="4123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690372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852160"/>
            <a:ext cx="6903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Mutfak ekranı: filtre sekmeleri, sipariş kartları ve durum işaretleme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719072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7C7B"/>
                </a:solidFill>
                <a:latin typeface="Segoe UI"/>
              </a:rPr>
              <a:t>MUTFAK KULLANICISI NASIL ÇALIŞIR?</a:t>
            </a:r>
          </a:p>
        </p:txBody>
      </p:sp>
      <p:sp>
        <p:nvSpPr>
          <p:cNvPr id="12" name="Oval 11"/>
          <p:cNvSpPr/>
          <p:nvPr/>
        </p:nvSpPr>
        <p:spPr>
          <a:xfrm>
            <a:off x="7845552" y="2644901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2052827"/>
            <a:ext cx="3218688" cy="50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Her alakart için ayrı bir mutfak kullanıcısı oluşturulur.</a:t>
            </a:r>
          </a:p>
        </p:txBody>
      </p:sp>
      <p:sp>
        <p:nvSpPr>
          <p:cNvPr id="14" name="Oval 13"/>
          <p:cNvSpPr/>
          <p:nvPr/>
        </p:nvSpPr>
        <p:spPr>
          <a:xfrm>
            <a:off x="7845552" y="3212790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620716"/>
            <a:ext cx="3218688" cy="50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Kullanıcı giriş yaptığında yalnızca kendi alakarta bağlı kalır.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3780678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3188604"/>
            <a:ext cx="3218688" cy="50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Garson siparişini gönderdiği anda kart ekranda belirir.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4348566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3756492"/>
            <a:ext cx="3218688" cy="50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Mutfak “Hazırlanıyor” ve “Tamamlandı” işaretlerini yapar.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491645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4324380"/>
            <a:ext cx="3218688" cy="279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Adisyon yazıcısından sipariş ve iptal fişi çıkar.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4846320"/>
            <a:ext cx="3493008" cy="896112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501091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Segoe UI"/>
              </a:rPr>
              <a:t>YETKI KURALI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5248656"/>
            <a:ext cx="30358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>
                <a:solidFill>
                  <a:srgbClr val="2A6B6A"/>
                </a:solidFill>
                <a:latin typeface="Segoe UI"/>
              </a:rPr>
              <a:t>Hazırlandı / Tamamlandı güncellemesi yalnızca mutfak kullanıcılarına açıktır.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MUTFAK MODÜLİ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Filtre Sekmeleri ve İptal Edilenler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Yoğun saatlerde odağğı yönetmek için yedi tek adımlı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1365123" cy="347472"/>
          </a:xfrm>
          <a:prstGeom prst="roundRect">
            <a:avLst>
              <a:gd name="adj" fmla="val 50000"/>
            </a:avLst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Aktif Siparişler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3219" y="1682496"/>
            <a:ext cx="2209673" cy="347472"/>
          </a:xfrm>
          <a:prstGeom prst="roundRect">
            <a:avLst>
              <a:gd name="adj" fmla="val 50000"/>
            </a:avLst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Bekleyenler (Ocak Bekliyor)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620" y="1682496"/>
            <a:ext cx="2117548" cy="34747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Güncellenenler (Revizyon)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9896" y="1682496"/>
            <a:ext cx="1196848" cy="347472"/>
          </a:xfrm>
          <a:prstGeom prst="roundRect">
            <a:avLst>
              <a:gd name="adj" fmla="val 50000"/>
            </a:avLst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Hazırlanıyor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6472" y="1682496"/>
            <a:ext cx="1412549" cy="347472"/>
          </a:xfrm>
          <a:prstGeom prst="roundRect">
            <a:avLst>
              <a:gd name="adj" fmla="val 50000"/>
            </a:avLst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Tamamlananlar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8749" y="1682496"/>
            <a:ext cx="1301623" cy="347472"/>
          </a:xfrm>
          <a:prstGeom prst="roundRect">
            <a:avLst>
              <a:gd name="adj" fmla="val 50000"/>
            </a:avLst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İptal Edilenler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682496"/>
            <a:ext cx="764899" cy="347472"/>
          </a:xfrm>
          <a:prstGeom prst="roundRect">
            <a:avLst>
              <a:gd name="adj" fmla="val 50000"/>
            </a:avLst>
          </a:prstGeom>
          <a:solidFill>
            <a:srgbClr val="394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Tümü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94560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18189"/>
                </a:solidFill>
                <a:latin typeface="Segoe UI"/>
              </a:rPr>
              <a:t>Mutfağın yönlü tek ekranda takip ettiği yedi durum — iptal edilenler ayrı bir sekmede listelenir.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" y="2510027"/>
            <a:ext cx="5404104" cy="2889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0"/>
            <a:ext cx="5303520" cy="2788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54589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Mutfak “İptal Edilenler” sekmesi: iptal edilen siparişler HAZIRLAMAZ işaretlidir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2510027"/>
            <a:ext cx="5404104" cy="2889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560320"/>
            <a:ext cx="5303520" cy="2788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36208" y="545896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İptal edilen siparişin detayı ve iptal nedeni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881360" cy="56692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687568"/>
            <a:ext cx="45720" cy="566928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33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BE4D43"/>
                </a:solidFill>
                <a:latin typeface="Segoe UI"/>
              </a:rPr>
              <a:t>Bu sayede mutfak, garsonun iptal ettiği siparişi hazırlamaya devam etmez; kaynak yanlı yere harcanmaz.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ŞEF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şef Portalı: İşleyişi Anlık İzler, Belgelersin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Sistem yöneticisinden ayrı, çalışan rapor ekranı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5321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532120" cy="5486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7A58"/>
                </a:solidFill>
                <a:latin typeface="Segoe UI"/>
              </a:rPr>
              <a:t>ŞEF YAPABİLİR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286000"/>
            <a:ext cx="219456" cy="21945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9971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275027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Tüm alakartlardaki canlı sipariş akışını anlık izleme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568397"/>
            <a:ext cx="219456" cy="21945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82113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557424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Belirli bir gün veya tarih aralığında yapılan işlemleri raporlama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2850794"/>
            <a:ext cx="219456" cy="21945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64510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2839821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Raporu Excel ve PDF olarak dışa aktarma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3133191"/>
            <a:ext cx="219456" cy="21945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146907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122218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Restoran seçerek sipariş girişi yapma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3415588"/>
            <a:ext cx="219456" cy="21945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429304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404616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Mutfak ve garson akışını denetleme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59936"/>
            <a:ext cx="5532120" cy="1755648"/>
          </a:xfrm>
          <a:prstGeom prst="roundRect">
            <a:avLst>
              <a:gd name="adj" fmla="val 5000"/>
            </a:avLst>
          </a:prstGeom>
          <a:solidFill>
            <a:srgbClr val="FAECE9"/>
          </a:solidFill>
          <a:ln w="12700">
            <a:solidFill>
              <a:srgbClr val="E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59936"/>
            <a:ext cx="5532120" cy="54864"/>
          </a:xfrm>
          <a:prstGeom prst="rect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E4D43"/>
                </a:solidFill>
                <a:latin typeface="Segoe UI"/>
              </a:rPr>
              <a:t>ŞEF YAPAMAZ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4626864"/>
            <a:ext cx="219456" cy="219456"/>
          </a:xfrm>
          <a:prstGeom prst="ellipse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640579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4615891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A453E"/>
                </a:solidFill>
                <a:latin typeface="Segoe UI"/>
              </a:rPr>
              <a:t>Mutfak modülünde “Hazırlandı / Tamamlandı” güncellemesi yapamaz</a:t>
            </a:r>
          </a:p>
        </p:txBody>
      </p:sp>
      <p:sp>
        <p:nvSpPr>
          <p:cNvPr id="32" name="Oval 31"/>
          <p:cNvSpPr/>
          <p:nvPr/>
        </p:nvSpPr>
        <p:spPr>
          <a:xfrm>
            <a:off x="932688" y="4909261"/>
            <a:ext cx="219456" cy="219456"/>
          </a:xfrm>
          <a:prstGeom prst="ellipse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922977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898288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A453E"/>
                </a:solidFill>
                <a:latin typeface="Segoe UI"/>
              </a:rPr>
              <a:t>Sistem tanımlarını (kullanıcı, alakart, masa, menü) yönetemez</a:t>
            </a:r>
          </a:p>
        </p:txBody>
      </p:sp>
      <p:sp>
        <p:nvSpPr>
          <p:cNvPr id="35" name="Oval 34"/>
          <p:cNvSpPr/>
          <p:nvPr/>
        </p:nvSpPr>
        <p:spPr>
          <a:xfrm>
            <a:off x="932688" y="5191658"/>
            <a:ext cx="219456" cy="219456"/>
          </a:xfrm>
          <a:prstGeom prst="ellipse">
            <a:avLst/>
          </a:prstGeom>
          <a:solidFill>
            <a:srgbClr val="BE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205374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5180685"/>
            <a:ext cx="4626864" cy="268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A453E"/>
                </a:solidFill>
                <a:latin typeface="Segoe UI"/>
              </a:rPr>
              <a:t>Rapor ekranları sistem yöneticisi modülünde yer almaz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3388" y="1668780"/>
            <a:ext cx="5056632" cy="3410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19072"/>
            <a:ext cx="4956048" cy="33101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0" y="5138928"/>
            <a:ext cx="4956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Şef paneli ana ekranı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376672"/>
            <a:ext cx="4956048" cy="877824"/>
          </a:xfrm>
          <a:prstGeom prst="roundRect">
            <a:avLst>
              <a:gd name="adj" fmla="val 8000"/>
            </a:avLst>
          </a:prstGeom>
          <a:solidFill>
            <a:srgbClr val="0A1E25"/>
          </a:solidFill>
          <a:ln w="12700">
            <a:solidFill>
              <a:srgbClr val="0A1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555955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C7D7DA"/>
                </a:solidFill>
                <a:latin typeface="Segoe UI"/>
              </a:rPr>
              <a:t>Bu ekran yalnızca başas açıs vardır; mutfağın işini bozmadan tüm işleyişi izler.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ŞEF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Raporlama: Excel ve PDF Çıktısı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Seçilen gün veya tarih aralığına göre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3230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Rapor tarih aralığı tesisin saat dilimine göre hesaplanır.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7116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5394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Sipariş adedi, iptal sayısı ve alakart bazlı dızey veriler raporlanır.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10025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92805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Excel çıktısı ile detaylı analiz, PDF çıktısı ile arşiv ve ibraz yapılabilir.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48886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31666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şef, mutfağın gördüğü siparişleri de butonsuz olarak takip eder.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3063240" cy="1024128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Segoe UI"/>
              </a:rPr>
              <a:t>MÜŞTERİ KURALI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59552"/>
            <a:ext cx="26151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>
                <a:solidFill>
                  <a:srgbClr val="2A6B6A"/>
                </a:solidFill>
                <a:latin typeface="Segoe UI"/>
              </a:rPr>
              <a:t>Şef mutfağı görür ama hazırlanıyor / tamamlandı butonlarına dokunamaz.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306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10512"/>
            <a:ext cx="3520440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Tarih aralığı raporu ve çıktı seçenekleri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782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_v2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810512"/>
            <a:ext cx="3520440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şef gözümüyle mutfak akışı (butonlar gizli)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SISTEM YÖNETICISI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Tanım Yönetimi: Kullanıcıdan Menüye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Bölüm, işletim verisi değil, tanım bölümü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3230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Kullanıcı tanımları ve rol atamaları (ADMIN, CHEF, WAITER, KITCHEN).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71164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53944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Alakart (restoran) ve alakartlara bağlı masa tanımları.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10025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92805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Menü grupları, menü öğeleri ve yemeğe özel servis notları.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48886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31666"/>
            <a:ext cx="2788920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94C55"/>
                </a:solidFill>
                <a:latin typeface="Segoe UI"/>
              </a:rPr>
              <a:t>Bu ekranda işletim raporları bulunmaz; raporlama yalnızca şef panelindedir.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3063240" cy="1024128"/>
          </a:xfrm>
          <a:prstGeom prst="roundRect">
            <a:avLst>
              <a:gd name="adj" fmla="val 8000"/>
            </a:avLst>
          </a:prstGeom>
          <a:solidFill>
            <a:srgbClr val="F8EFD9"/>
          </a:solidFill>
          <a:ln w="12700">
            <a:solidFill>
              <a:srgbClr val="EA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862A"/>
                </a:solidFill>
                <a:latin typeface="Segoe UI"/>
              </a:rPr>
              <a:t>AYRIM NEDEN ÖNEMLİ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59552"/>
            <a:ext cx="26151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89" b="0">
                <a:solidFill>
                  <a:srgbClr val="7A5C1C"/>
                </a:solidFill>
                <a:latin typeface="Segoe UI"/>
              </a:rPr>
              <a:t>Tanım yönetimi ve işletim raporu farklı rollere ayrıldığı için yetki sınırı netleşmiş ve denetlenebilir olur.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306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_v2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10512"/>
            <a:ext cx="3520440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Alakart (restoran) ve masa yönetimi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7828" y="1760220"/>
            <a:ext cx="3621024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_v2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810512"/>
            <a:ext cx="3520440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438912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718189"/>
                </a:solidFill>
                <a:latin typeface="Segoe UI"/>
              </a:rPr>
              <a:t>Menü grubu, öğ ve servis notu yönetimi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84831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579" b="1">
                <a:solidFill>
                  <a:srgbClr val="1C3C45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8470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24A"/>
                </a:solidFill>
                <a:latin typeface="Segoe UI"/>
              </a:rPr>
              <a:t>BÖLÜM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272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Kullanım Kolaylığı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913632"/>
            <a:ext cx="1188720" cy="4572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224528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9EB4BA"/>
                </a:solidFill>
                <a:latin typeface="Segoe UI"/>
              </a:rPr>
              <a:t>Aynı uygulama; masaüstünde, tablette ve telefonda — tesisin altyapısına göre internetten veya yerel ağdan.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1168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011680"/>
            <a:ext cx="54864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2311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Masaüstü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88036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880360"/>
            <a:ext cx="54864" cy="694944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0998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Tablet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749039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749039"/>
            <a:ext cx="54864" cy="69494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9684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Mobil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617720"/>
            <a:ext cx="4160520" cy="69494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617720"/>
            <a:ext cx="54864" cy="694944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8371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İnternet / 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KULLANIM KOLAYLIĞI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Aynı Uygulama, Her Cihazda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Tesisin talebine göre donanımını seç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350215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45720" cy="30540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1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Masaüstü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2257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Kasa, ofis ve yönetim bilgisayarı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706624"/>
            <a:ext cx="2953512" cy="1225296"/>
          </a:xfrm>
          <a:prstGeom prst="roundRect">
            <a:avLst>
              <a:gd name="adj" fmla="val 4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2706624"/>
            <a:ext cx="2953512" cy="2377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3072384"/>
            <a:ext cx="1004194" cy="91440"/>
          </a:xfrm>
          <a:prstGeom prst="rect">
            <a:avLst/>
          </a:prstGeom>
          <a:solidFill>
            <a:srgbClr val="CF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3255264"/>
            <a:ext cx="1831177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0704" y="3456432"/>
            <a:ext cx="1417685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0704" y="3657600"/>
            <a:ext cx="738378" cy="146304"/>
          </a:xfrm>
          <a:prstGeom prst="rec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17222" y="3657600"/>
            <a:ext cx="738378" cy="146304"/>
          </a:xfrm>
          <a:prstGeom prst="rect">
            <a:avLst/>
          </a:prstGeom>
          <a:solidFill>
            <a:srgbClr val="F8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3740" y="3657600"/>
            <a:ext cx="738378" cy="146304"/>
          </a:xfrm>
          <a:prstGeom prst="rect">
            <a:avLst/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4078224"/>
            <a:ext cx="1327658" cy="25603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E7C7B"/>
                </a:solidFill>
                <a:latin typeface="Segoe UI"/>
              </a:rPr>
              <a:t>Windows / macOS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719072"/>
            <a:ext cx="350215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719072"/>
            <a:ext cx="45720" cy="3054096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993391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Tablet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32257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Garsonun el terminali olarak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2706624"/>
            <a:ext cx="2953512" cy="1225296"/>
          </a:xfrm>
          <a:prstGeom prst="roundRect">
            <a:avLst>
              <a:gd name="adj" fmla="val 4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2706624"/>
            <a:ext cx="2953512" cy="237744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45736" y="3072384"/>
            <a:ext cx="1004194" cy="91440"/>
          </a:xfrm>
          <a:prstGeom prst="rect">
            <a:avLst/>
          </a:prstGeom>
          <a:solidFill>
            <a:srgbClr val="CF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45736" y="3255264"/>
            <a:ext cx="1831177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45736" y="3456432"/>
            <a:ext cx="1417685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45736" y="3657600"/>
            <a:ext cx="738378" cy="146304"/>
          </a:xfrm>
          <a:prstGeom prst="rec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2254" y="3657600"/>
            <a:ext cx="738378" cy="146304"/>
          </a:xfrm>
          <a:prstGeom prst="rect">
            <a:avLst/>
          </a:prstGeom>
          <a:solidFill>
            <a:srgbClr val="F8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58772" y="3657600"/>
            <a:ext cx="738378" cy="146304"/>
          </a:xfrm>
          <a:prstGeom prst="rect">
            <a:avLst/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4078224"/>
            <a:ext cx="1124408" cy="25603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4862A"/>
                </a:solidFill>
                <a:latin typeface="Segoe UI"/>
              </a:rPr>
              <a:t>iPad / Android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1719072"/>
            <a:ext cx="350215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1719072"/>
            <a:ext cx="45720" cy="3054096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93391"/>
            <a:ext cx="2953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0222A"/>
                </a:solidFill>
                <a:latin typeface="Segoe UI"/>
              </a:rPr>
              <a:t>Mobil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232257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Sahada, masadan masaya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2706624"/>
            <a:ext cx="2953512" cy="1225296"/>
          </a:xfrm>
          <a:prstGeom prst="roundRect">
            <a:avLst>
              <a:gd name="adj" fmla="val 4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02752" y="2706624"/>
            <a:ext cx="2953512" cy="23774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30768" y="3072384"/>
            <a:ext cx="1004194" cy="91440"/>
          </a:xfrm>
          <a:prstGeom prst="rect">
            <a:avLst/>
          </a:prstGeom>
          <a:solidFill>
            <a:srgbClr val="CF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30768" y="3255264"/>
            <a:ext cx="1831177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30768" y="3456432"/>
            <a:ext cx="1417685" cy="91440"/>
          </a:xfrm>
          <a:prstGeom prst="rect">
            <a:avLst/>
          </a:prstGeom>
          <a:solidFill>
            <a:srgbClr val="DF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30768" y="3657600"/>
            <a:ext cx="738378" cy="146304"/>
          </a:xfrm>
          <a:prstGeom prst="rec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7286" y="3657600"/>
            <a:ext cx="738378" cy="146304"/>
          </a:xfrm>
          <a:prstGeom prst="rect">
            <a:avLst/>
          </a:prstGeom>
          <a:solidFill>
            <a:srgbClr val="F8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43804" y="3657600"/>
            <a:ext cx="738378" cy="146304"/>
          </a:xfrm>
          <a:prstGeom prst="rect">
            <a:avLst/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02752" y="4078224"/>
            <a:ext cx="1270508" cy="25603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2B7A58"/>
                </a:solidFill>
                <a:latin typeface="Segoe UI"/>
              </a:rPr>
              <a:t>Android / iPhone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974336"/>
            <a:ext cx="3502152" cy="1133856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1572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Segoe UI"/>
              </a:rPr>
              <a:t>Dokunmatik optimize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4681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>
                <a:solidFill>
                  <a:srgbClr val="2A6B6A"/>
                </a:solidFill>
                <a:latin typeface="Segoe UI"/>
              </a:rPr>
              <a:t>Geniş butonlar, okunabilir punto, kayan mönü düzeni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974336"/>
            <a:ext cx="3502152" cy="1133856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99432" y="51572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Segoe UI"/>
              </a:rPr>
              <a:t>Kurulum gerektirmez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99432" y="54681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>
                <a:solidFill>
                  <a:srgbClr val="2A6B6A"/>
                </a:solidFill>
                <a:latin typeface="Segoe UI"/>
              </a:rPr>
              <a:t>Tarayıcıdan açılan web uygulaması; uygulama mağazası yok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28432" y="4974336"/>
            <a:ext cx="3502152" cy="1133856"/>
          </a:xfrm>
          <a:prstGeom prst="roundRect">
            <a:avLst>
              <a:gd name="adj" fmla="val 8000"/>
            </a:avLst>
          </a:prstGeom>
          <a:solidFill>
            <a:srgbClr val="E3F1F0"/>
          </a:solidFill>
          <a:ln w="12700">
            <a:solidFill>
              <a:srgbClr val="C8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51572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Segoe UI"/>
              </a:rPr>
              <a:t>Aynı veri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54681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>
                <a:solidFill>
                  <a:srgbClr val="2A6B6A"/>
                </a:solidFill>
                <a:latin typeface="Segoe UI"/>
              </a:rPr>
              <a:t>Cihaz değişse bile veri, oturum ve siparişler aynı yerde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KULLANIM KOLAYLIĞI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İnternetten veya Yerel Ağdan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Uygulama aynı; yalnızca çalışma biçimi değişiyor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349240" cy="37124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349240" cy="54864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5681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D5987"/>
                </a:solidFill>
                <a:latin typeface="Segoe UI"/>
              </a:rPr>
              <a:t>SOLUCU ÜZERİNDE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0222A"/>
                </a:solidFill>
                <a:latin typeface="Segoe UI"/>
              </a:rPr>
              <a:t>Online çalışma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2688336"/>
            <a:ext cx="4690872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3449574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2857500"/>
            <a:ext cx="4416552" cy="511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Sunucu tarafında barındırılır; uygulama güncellenince tüm cihazlar güncelenir.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042877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450803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Garson, Ŝef ve yönetici farklı şiyetlerden aynı bilgiye erişir.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408109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816035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Merkezî yedekleme ile veri kaybı en aza indirilir.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773340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4181266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Farklı alakartlar arası geçiş sıfır dēnde yaşanmaz.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719072"/>
            <a:ext cx="5349240" cy="37124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1719072"/>
            <a:ext cx="5349240" cy="5486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95681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B7A58"/>
                </a:solidFill>
                <a:latin typeface="Segoe UI"/>
              </a:rPr>
              <a:t>YEREL AĞ ÜZERİNDE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249424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0222A"/>
                </a:solidFill>
                <a:latin typeface="Segoe UI"/>
              </a:rPr>
              <a:t>Tesis içi çalışma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2688336"/>
            <a:ext cx="4690872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3449574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2857500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İnternet bağlantısı gerekmez; salon Wi-Fi yeterlidir.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3814805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222731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Ağ içi trafiğ hızlı olduğu için anlık bildirimler gecikmez.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4180037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3587963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Dışarıdan erişim kapalı tutulabilir.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4545269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953195"/>
            <a:ext cx="4416552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94C55"/>
                </a:solidFill>
                <a:latin typeface="Segoe UI"/>
              </a:rPr>
              <a:t>Garson, mutfak ve şef aynı ağ içinde bürüdür.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96128"/>
            <a:ext cx="10881360" cy="658368"/>
          </a:xfrm>
          <a:prstGeom prst="roundRect">
            <a:avLst>
              <a:gd name="adj" fmla="val 10000"/>
            </a:avLst>
          </a:prstGeom>
          <a:solidFill>
            <a:srgbClr val="0A1E25"/>
          </a:solidFill>
          <a:ln w="12700">
            <a:solidFill>
              <a:srgbClr val="0A1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60720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Tesis internet altyapısına ve yaşam tarzına göre karar verir; her iki senaryoda da aynı uygulama, aynı veri, aynı akış.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ÇÖZÜLEN SORUNLAR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Uygulamayla Kapatılan Sekiz Kök Nokta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Her madde işletim içinde doğrudan gözlemlenebilir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93391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0195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Fiş kaybı bitti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Sipariş ekranda kayıtlı kalır; kağıt fiş aranmaz.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719072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719072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993391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0195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Servis notu garsonun ekranında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194560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Yemeğe özel notlar sipariş anında seçilip siparişe yazılır.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52928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52928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127248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0358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İptal artık önlenmez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328416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Onay → mutfağa bildirim → İptal Edilenler sekmesi → iptal fişi.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852928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216" y="2852928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59" y="3127248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0358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Revizyon kayıbolmaz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3328416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Sipariş güncellenince mutfakta Revizyon rozetiyle belirir.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86783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86783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4261103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69663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Mutfak sırası 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62271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Yedi filtre sekmesi ve durum rozetleri yoğun servisi yönetilebilir kılar.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986783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0216" y="3986783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7959" y="4261103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169663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Her mutfağın kendi ekranı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4462271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Alakart bazı mutfak kullanıcısı; karışma ve karıştırma yok.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120640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120640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6112" y="5394959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30352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şletim raporlanabilir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596127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Gün veya tarih aralığı; Excel ve PDF çıktısı.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216" y="5120640"/>
            <a:ext cx="523951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0216" y="5120640"/>
            <a:ext cx="45720" cy="9875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37959" y="5394959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530352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0222A"/>
                </a:solidFill>
                <a:latin typeface="Segoe UI"/>
              </a:rPr>
              <a:t>Yetkiler ayrı ve 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5596127"/>
            <a:ext cx="4343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Sistem yöneticisi, şef, garson ve mutfak rolleri birbirinden bağımsız.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TESIS İÇIN KAZANÇLARI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Bu Sistem Tesis Ne Kazandırı?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Dört temel çer÷evede ölçülen fayda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239512" cy="2066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50292" cy="2066543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0976" y="1993391"/>
            <a:ext cx="329184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762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Segoe UI"/>
              </a:rPr>
              <a:t>HİZMET KALİTESİ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3113532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2546603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Misafir talebi anında mutfağa ulaşır, hazırlık erken başlar.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" y="3428862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2861934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Servis notu doğrusuyla özel istekler kazanılmaz.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744193"/>
            <a:ext cx="65836" cy="658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3177265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Yanlış tabak ve gecikme azalır.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719072"/>
            <a:ext cx="5239512" cy="2066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719072"/>
            <a:ext cx="50292" cy="2066543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92824" y="1993391"/>
            <a:ext cx="329184" cy="50292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21762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4862A"/>
                </a:solidFill>
                <a:latin typeface="Segoe UI"/>
              </a:rPr>
              <a:t>MUTFAK VERİMİLİLİİ</a:t>
            </a:r>
          </a:p>
        </p:txBody>
      </p:sp>
      <p:sp>
        <p:nvSpPr>
          <p:cNvPr id="22" name="Oval 21"/>
          <p:cNvSpPr/>
          <p:nvPr/>
        </p:nvSpPr>
        <p:spPr>
          <a:xfrm>
            <a:off x="6592824" y="3113532"/>
            <a:ext cx="65836" cy="65836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7144" y="2546603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Sıra tek ekrandan yönetilir; bekleme azalır.</a:t>
            </a:r>
          </a:p>
        </p:txBody>
      </p:sp>
      <p:sp>
        <p:nvSpPr>
          <p:cNvPr id="24" name="Oval 23"/>
          <p:cNvSpPr/>
          <p:nvPr/>
        </p:nvSpPr>
        <p:spPr>
          <a:xfrm>
            <a:off x="6592824" y="3428862"/>
            <a:ext cx="65836" cy="65836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2861934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İptal edilen iş hazırlanmaz, fire azalır.</a:t>
            </a:r>
          </a:p>
        </p:txBody>
      </p:sp>
      <p:sp>
        <p:nvSpPr>
          <p:cNvPr id="26" name="Oval 25"/>
          <p:cNvSpPr/>
          <p:nvPr/>
        </p:nvSpPr>
        <p:spPr>
          <a:xfrm>
            <a:off x="6592824" y="3744193"/>
            <a:ext cx="65836" cy="65836"/>
          </a:xfrm>
          <a:prstGeom prst="ellipse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3177265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Revizyonlar anında uygulanır, iş kaybı olmaz.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50208"/>
            <a:ext cx="5239512" cy="2066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50208"/>
            <a:ext cx="50292" cy="2066543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" y="4224528"/>
            <a:ext cx="329184" cy="50292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4074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B7A58"/>
                </a:solidFill>
                <a:latin typeface="Segoe UI"/>
              </a:rPr>
              <a:t>GELİR VE KARAR</a:t>
            </a:r>
          </a:p>
        </p:txBody>
      </p:sp>
      <p:sp>
        <p:nvSpPr>
          <p:cNvPr id="32" name="Oval 31"/>
          <p:cNvSpPr/>
          <p:nvPr/>
        </p:nvSpPr>
        <p:spPr>
          <a:xfrm>
            <a:off x="950976" y="5344668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296" y="4777740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Satılan ürün raporlanabilir.</a:t>
            </a:r>
          </a:p>
        </p:txBody>
      </p:sp>
      <p:sp>
        <p:nvSpPr>
          <p:cNvPr id="34" name="Oval 33"/>
          <p:cNvSpPr/>
          <p:nvPr/>
        </p:nvSpPr>
        <p:spPr>
          <a:xfrm>
            <a:off x="950976" y="5659998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5296" y="5093070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Hangi alakartta ne kaçtı net olarak görülür.</a:t>
            </a:r>
          </a:p>
        </p:txBody>
      </p:sp>
      <p:sp>
        <p:nvSpPr>
          <p:cNvPr id="36" name="Oval 35"/>
          <p:cNvSpPr/>
          <p:nvPr/>
        </p:nvSpPr>
        <p:spPr>
          <a:xfrm>
            <a:off x="950976" y="5975329"/>
            <a:ext cx="65836" cy="65836"/>
          </a:xfrm>
          <a:prstGeom prst="ellipse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5296" y="5408401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Menü planlaması gerçek veriye dayanır.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3950208"/>
            <a:ext cx="5239512" cy="2066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3950208"/>
            <a:ext cx="50292" cy="2066543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92824" y="4224528"/>
            <a:ext cx="329184" cy="50292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44074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D5987"/>
                </a:solidFill>
                <a:latin typeface="Segoe UI"/>
              </a:rPr>
              <a:t>OPERASYON KOLAYLIĞI</a:t>
            </a:r>
          </a:p>
        </p:txBody>
      </p:sp>
      <p:sp>
        <p:nvSpPr>
          <p:cNvPr id="42" name="Oval 41"/>
          <p:cNvSpPr/>
          <p:nvPr/>
        </p:nvSpPr>
        <p:spPr>
          <a:xfrm>
            <a:off x="6592824" y="5344668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7144" y="4777740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Yeni personel hızlı eğitilir, ölçüm çok azalır.</a:t>
            </a:r>
          </a:p>
        </p:txBody>
      </p:sp>
      <p:sp>
        <p:nvSpPr>
          <p:cNvPr id="44" name="Oval 43"/>
          <p:cNvSpPr/>
          <p:nvPr/>
        </p:nvSpPr>
        <p:spPr>
          <a:xfrm>
            <a:off x="6592824" y="5659998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7144" y="5093070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Sınırlar net; sunucu tarafında da uygulanır.</a:t>
            </a:r>
          </a:p>
        </p:txBody>
      </p:sp>
      <p:sp>
        <p:nvSpPr>
          <p:cNvPr id="46" name="Oval 45"/>
          <p:cNvSpPr/>
          <p:nvPr/>
        </p:nvSpPr>
        <p:spPr>
          <a:xfrm>
            <a:off x="6592824" y="5975329"/>
            <a:ext cx="65836" cy="65836"/>
          </a:xfrm>
          <a:prstGeom prst="ellipse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67144" y="5408401"/>
            <a:ext cx="4389120" cy="26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394C55"/>
                </a:solidFill>
                <a:latin typeface="Segoe UI"/>
              </a:rPr>
              <a:t>Kağıt arama, tekrarlama ve iş yükı azalır.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7B"/>
                </a:solidFill>
                <a:latin typeface="Segoe UI"/>
              </a:rPr>
              <a:t>TEKNIK ALTYAPI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>
                <a:solidFill>
                  <a:srgbClr val="10222A"/>
                </a:solidFill>
                <a:latin typeface="Segoe UI"/>
              </a:rPr>
              <a:t>Sistemin Yapısı ve Mevcut Ölçek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2801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18189"/>
                </a:solidFill>
                <a:latin typeface="Segoe UI"/>
              </a:rPr>
              <a:t>Tesise özel çalışanabilir kurulur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40233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18189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Kullanıcı tanımı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1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1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Alakart / restoran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Masa tanımı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Menü öği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Servis notlu öğ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1719072"/>
            <a:ext cx="1691639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892807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E7C7B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5" y="2359152"/>
            <a:ext cx="1472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18189"/>
                </a:solidFill>
                <a:latin typeface="Segoe UI"/>
              </a:rPr>
              <a:t>Yetkili modül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054096"/>
            <a:ext cx="2587752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054096"/>
            <a:ext cx="45720" cy="177393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Web Tabanlı Uygulama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40480"/>
            <a:ext cx="21031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>
                <a:solidFill>
                  <a:srgbClr val="718189"/>
                </a:solidFill>
                <a:latin typeface="Segoe UI"/>
              </a:rPr>
              <a:t>Next.js + React tabanlı arayüz. Sunucu tarafında çalışır, çoklu cihazda aynı deneyim.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054096"/>
            <a:ext cx="2587752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054096"/>
            <a:ext cx="45720" cy="1773936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85032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Sunucu Tarafı Yetkilendirme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3840480"/>
            <a:ext cx="21031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>
                <a:solidFill>
                  <a:srgbClr val="718189"/>
                </a:solidFill>
                <a:latin typeface="Segoe UI"/>
              </a:rPr>
              <a:t>Yetkiler yalnızca menüde gizlenmez; sayfa ve sunucu işleminin tamamında uygulanır.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3054096"/>
            <a:ext cx="2587752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1" y="3054096"/>
            <a:ext cx="45720" cy="1773936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Veritabanı ve Raporlama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3840480"/>
            <a:ext cx="21031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>
                <a:solidFill>
                  <a:srgbClr val="718189"/>
                </a:solidFill>
                <a:latin typeface="Segoe UI"/>
              </a:rPr>
              <a:t>PostgreSQL ile ilişkili veri. Excel çıktısı için xlsx, PDF çıktı için tarayıcı yazdırma.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0264" y="3054096"/>
            <a:ext cx="2587752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70264" y="3054096"/>
            <a:ext cx="45720" cy="1773936"/>
          </a:xfrm>
          <a:prstGeom prst="rect">
            <a:avLst/>
          </a:prstGeom>
          <a:solidFill>
            <a:srgbClr val="1D5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32735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0222A"/>
                </a:solidFill>
                <a:latin typeface="Segoe UI"/>
              </a:rPr>
              <a:t>Tarih ve Zaman Yönetimi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3840480"/>
            <a:ext cx="21031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>
                <a:solidFill>
                  <a:srgbClr val="718189"/>
                </a:solidFill>
                <a:latin typeface="Segoe UI"/>
              </a:rPr>
              <a:t>Rapor aralıkları tesisin saat dilimine göre hesaplanır; gün sonu farkı oluşmez.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047488"/>
            <a:ext cx="10881360" cy="1115568"/>
          </a:xfrm>
          <a:prstGeom prst="roundRect">
            <a:avLst>
              <a:gd name="adj" fmla="val 8000"/>
            </a:avLst>
          </a:prstGeom>
          <a:solidFill>
            <a:srgbClr val="0A1E25"/>
          </a:solidFill>
          <a:ln w="12700">
            <a:solidFill>
              <a:srgbClr val="0A1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23036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8A24A"/>
                </a:solidFill>
                <a:latin typeface="Segoe UI"/>
              </a:rPr>
              <a:t>KURULUM VE İŞLETİM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504688"/>
            <a:ext cx="102412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C7D7DA"/>
                </a:solidFill>
                <a:latin typeface="Segoe UI"/>
              </a:rPr>
              <a:t>Uygulama merkezî veritabanı üzerinden çalışır. Tesis, cihaz sayısına ve altyapısına göre sunucu çözümü çevrim içi veya yerel kurulum arasında karar verir.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6400800"/>
            <a:ext cx="10881360" cy="10058"/>
          </a:xfrm>
          <a:prstGeom prst="rect">
            <a:avLst/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649224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ALACARTE  •  Merit Hotels &amp; Resorts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492240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718189"/>
                </a:solidFill>
                <a:latin typeface="Segoe UI"/>
              </a:rPr>
              <a:t>Dijital İşletim Sistemi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1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24A"/>
                </a:solidFill>
                <a:latin typeface="Segoe UI"/>
              </a:rPr>
              <a:t>KAPANIŞ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Teşekkürler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788920"/>
            <a:ext cx="1188720" cy="4572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90672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350" b="0">
                <a:solidFill>
                  <a:srgbClr val="9EB4BA"/>
                </a:solidFill>
                <a:latin typeface="Segoe UI"/>
              </a:rPr>
              <a:t>ALACARTE, garson‑mutfak iletişimini kâğdan zemin iüzerine taşıyan;
masadan masaya, mutfaktan rapora kadar tüm iş akışını tek ekranda toplayan bir işletim sistemidir.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160520"/>
            <a:ext cx="6675120" cy="60350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4160520"/>
            <a:ext cx="54864" cy="6035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425195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Anlık bildirim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26110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EB4BA"/>
                </a:solidFill>
                <a:latin typeface="Segoe UI"/>
              </a:rPr>
              <a:t>Sipariş anında mutfağa ulaşır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892040"/>
            <a:ext cx="6675120" cy="60350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4892040"/>
            <a:ext cx="54864" cy="603504"/>
          </a:xfrm>
          <a:prstGeom prst="rect">
            <a:avLst/>
          </a:prstGeom>
          <a:solidFill>
            <a:srgbClr val="B4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" y="498347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Tek veri kaynağı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99262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EB4BA"/>
                </a:solidFill>
                <a:latin typeface="Segoe UI"/>
              </a:rPr>
              <a:t>Fiş yok, kopukluk yok, hatırlama yok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623560"/>
            <a:ext cx="6675120" cy="603504"/>
          </a:xfrm>
          <a:prstGeom prst="roundRect">
            <a:avLst>
              <a:gd name="adj" fmla="val 10000"/>
            </a:avLst>
          </a:prstGeom>
          <a:solidFill>
            <a:srgbClr val="112B33"/>
          </a:solidFill>
          <a:ln w="12700">
            <a:solidFill>
              <a:srgbClr val="24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5623560"/>
            <a:ext cx="54864" cy="603504"/>
          </a:xfrm>
          <a:prstGeom prst="rect">
            <a:avLst/>
          </a:prstGeom>
          <a:solidFill>
            <a:srgbClr val="2B7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" y="571500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Her cihazda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72414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EB4BA"/>
                </a:solidFill>
                <a:latin typeface="Segoe UI"/>
              </a:rPr>
              <a:t>Masaüstü, tablet, mobil; internet veya 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ALACARTE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401568"/>
            <a:ext cx="822960" cy="41148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3639312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9EB4BA"/>
                </a:solidFill>
                <a:latin typeface="Segoe UI"/>
              </a:rPr>
              <a:t>Merit Hotels &amp; Resorts
İşletim Dijitalleştirme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